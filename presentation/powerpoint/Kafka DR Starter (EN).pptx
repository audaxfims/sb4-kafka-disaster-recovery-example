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Spring Boot starter that makes a Spring Cloud Stream application resilient to the loss of a Kafka cluster. The key idea: the application writes ordinary handlers, while cluster switching, deduplication and restoring the read position are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typical consequences of losing a cluster. Even with MirrorMaker 2 in place the data is on the standby, but the application does not move there by itself, and the offsets there differ. A separate class of problems is bridge services between Kafkas: when the target Kafka is down the send fails fast, the retries run out, and the record is skipped.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message of the deck. The starter does not replace replication — MirrorMaker 2 does that. It answers the question "where do we read and write right now, and how do we avoid losing or duplicating data on the way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roles. The health checker observes: every interval (5 s by default) it asks each cluster through an AdminClient. The manager decides: it counts consecutive failures and successes, elects the active cluster by priority, honours the failback-after window and persists its state. The executors act: consumer bindings are stopped on the old cluster and started on the new one, and the producer always writes to the active cluster. Replication is MirrorMaker 2 with IdentityReplicationPolicy, so topic names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are defaults; all are configurable, per cluster group too. The producer can speed things up: when a send proves a cluster unreachable, it is marked unhealthy immediately, without waiting for the probes. failback-after is a time of day before which automatic failback to the primary is not allowed — a night maintenance window, say. For the window to hold across restarts, the state is kept in an external store; the example uses Redis.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mechanisms work together. Seeking by time removes gaps: offsets differ between clusters, but MirrorMaker keeps record timestamps. The seek is approximate, so the boundary can repeat records; idempotency by message key drops them. Third, the watermark moves only after a real commit — otherwise a failover could jump past records that were never acknowledged.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lesson of the development. Every mistake towards "the message is at fault" is a loss for a bridge — the record goes to the DLQ. Every mistake towards "the cluster is at fault" is a needless failover of the whole group, and flapping. So: the message is at fault only for provable properties of the record; the cluster is broken only when it is unreachable or a retriable Kafka error outlasted the retries; everything else is held. Sends are always synchronous: the starter sets sync: true itself. The active-only rule came from a live run: detouring to a standby left records unread.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group is one logical Kafka with its own primary and standby clusters. An application can have several, and each fails over independently: analytics going down does not touch core. A physical cluster belongs to exactly one group, checked at startup. Producers are addressed by logical name, so moving a topic to another group is a configuration change only. Existing configurations without groups keep working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bridge is a consumer in one Kafka that writes to another. Without depends-on, the target Kafka going down looks like a handler error: the retries run out in seconds and the record is skipped. With depends-on there are three layers: pause, a gate before the handler, and reclassifying the failure. A nack does not count as a delivery attempt, so the wait can last as long as the outage. max-hold only bounds the case "the group is up but the record is not taken" — a missing ACL, for instance — which would otherwise stall the thread forever. A manual ack-mode is required and checked at startup.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overview of the remaining features. Batch: split mode runs records one by one with deduplication and commits the processed prefix; standard hands the handler the whole envelope. Startup checks are part of the philosophy: a configuration that looks protected but loses data — depends-on without a manual ack, or asynchronous sends — does not start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Besides unit tests there was mutation testing: bugs were planted in a copy of the code and the tests had to catch them. Concurrency tests were run repeatedly. Most important were the live runs: several serious problems were found only by them, not by static review — for instance, that a record written to a standby sits unread, and that a binding created after startup could not be stopped.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value: DR stops being the responsibility of every team writing consumers. The decisions are made once, in the starter, and backed by tests and live runs. Changes that need attention on upgrade are listed in the README's migration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honest list of limitations. The most fundamental is the active-passive model: the starter does no active-active and does not replicate data itself. Exactly-once across different Kafkas is impossible in principle — no transaction spans two clusters — hence the bet on the receiver's idempotency. A held record is a deliberate trade-off, "a visible delay beats a silent loss", bounded by max-hold. The ~45 s block on a missing topic is Spring Cloud Stream's own behaviour and is documented. Schema Registry error recognition was checked against the Confluent 8.2 sources; it is worth re-checking on a major client upgrade.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starter covers the typical active-passive DR scenario for Spring Cloud Stream, and exchange between independent Kafkas. Out of scope: active-active, exactly-once across clusters, other client stacks. Next steps: read the README and its migration notes, bring up the multi-group example, and choose stores for idempotency and failover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A2433"/>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1A24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A2433"/>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1A24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2.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07A2E"/>
          </a:solidFill>
          <a:ln/>
        </p:spPr>
      </p:sp>
      <p:sp>
        <p:nvSpPr>
          <p:cNvPr id="3" name="Text 1"/>
          <p:cNvSpPr/>
          <p:nvPr/>
        </p:nvSpPr>
        <p:spPr>
          <a:xfrm>
            <a:off x="812800" y="2214265"/>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0954F"/>
                </a:solidFill>
                <a:latin typeface="JetBrains Mono" pitchFamily="49" charset="0"/>
                <a:ea typeface="JetBrains Mono" pitchFamily="49" charset="-122"/>
                <a:cs typeface="JetBrains Mono" pitchFamily="49" charset="-120"/>
              </a:rPr>
              <a:t>SPRING BOOT STARTER · KAFKA DISASTER RECOVERY</a:t>
            </a:r>
            <a:endParaRPr lang="en-US" sz="1400" dirty="0"/>
          </a:p>
        </p:txBody>
      </p:sp>
      <p:sp>
        <p:nvSpPr>
          <p:cNvPr id="4" name="Text 2"/>
          <p:cNvSpPr/>
          <p:nvPr>
            <p:ph type="title"/>
          </p:nvPr>
        </p:nvSpPr>
        <p:spPr>
          <a:xfrm>
            <a:off x="812800" y="2717155"/>
            <a:ext cx="10883392" cy="905470"/>
          </a:xfrm>
          <a:prstGeom prst="rect">
            <a:avLst/>
          </a:prstGeom>
          <a:noFill/>
          <a:ln/>
        </p:spPr>
        <p:txBody>
          <a:bodyPr wrap="square" lIns="0" tIns="0" rIns="0" bIns="0" rtlCol="0" anchor="t">
            <a:normAutofit/>
          </a:bodyPr>
          <a:lstStyle/>
          <a:p>
            <a:pPr algn="l" indent="0" marL="0">
              <a:lnSpc>
                <a:spcPts val="6930"/>
              </a:lnSpc>
              <a:buNone/>
            </a:pPr>
            <a:r>
              <a:rPr lang="en-US" sz="6600" b="1" i="0" dirty="0">
                <a:solidFill>
                  <a:srgbClr val="F5F3EE"/>
                </a:solidFill>
                <a:latin typeface="IBM Plex Sans" pitchFamily="34" charset="0"/>
                <a:ea typeface="IBM Plex Sans" pitchFamily="34" charset="-122"/>
                <a:cs typeface="IBM Plex Sans" pitchFamily="34" charset="-120"/>
              </a:rPr>
              <a:t>Kafka DR Starter</a:t>
            </a:r>
            <a:endParaRPr lang="en-US" sz="6600" dirty="0"/>
          </a:p>
        </p:txBody>
      </p:sp>
      <p:sp>
        <p:nvSpPr>
          <p:cNvPr id="5" name="Text 3"/>
          <p:cNvSpPr/>
          <p:nvPr/>
        </p:nvSpPr>
        <p:spPr>
          <a:xfrm>
            <a:off x="812800" y="3851225"/>
            <a:ext cx="9156700" cy="817860"/>
          </a:xfrm>
          <a:prstGeom prst="rect">
            <a:avLst/>
          </a:prstGeom>
          <a:noFill/>
          <a:ln/>
        </p:spPr>
        <p:txBody>
          <a:bodyPr wrap="square" lIns="0" tIns="0" rIns="0" bIns="0" rtlCol="0" anchor="t">
            <a:normAutofit/>
          </a:bodyPr>
          <a:lstStyle/>
          <a:p>
            <a:pPr algn="l" indent="0" marL="0">
              <a:lnSpc>
                <a:spcPts val="3120"/>
              </a:lnSpc>
              <a:buNone/>
            </a:pPr>
            <a:r>
              <a:rPr lang="en-US" sz="2400" dirty="0">
                <a:solidFill>
                  <a:srgbClr val="B8C4D6"/>
                </a:solidFill>
                <a:latin typeface="IBM Plex Sans" pitchFamily="34" charset="0"/>
                <a:ea typeface="IBM Plex Sans" pitchFamily="34" charset="-122"/>
                <a:cs typeface="IBM Plex Sans" pitchFamily="34" charset="-120"/>
              </a:rPr>
              <a:t>Switching between Kafka clusters with no loss, no duplicates and no failover code in the application</a:t>
            </a:r>
            <a:endParaRPr lang="en-US" sz="2400" dirty="0"/>
          </a:p>
        </p:txBody>
      </p:sp>
      <p:sp>
        <p:nvSpPr>
          <p:cNvPr id="6" name="Text 4"/>
          <p:cNvSpPr/>
          <p:nvPr/>
        </p:nvSpPr>
        <p:spPr>
          <a:xfrm>
            <a:off x="812800" y="601727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FA0B8"/>
                </a:solidFill>
                <a:latin typeface="JetBrains Mono" pitchFamily="49" charset="0"/>
                <a:ea typeface="JetBrains Mono" pitchFamily="49" charset="-122"/>
                <a:cs typeface="JetBrains Mono" pitchFamily="49" charset="-120"/>
              </a:rPr>
              <a:t>Spring Boot 4 · Spring Cloud Stream 5 · spring-kafka 4 · Java 17+</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61B"/>
                </a:solidFill>
                <a:latin typeface="JetBrains Mono" pitchFamily="49" charset="0"/>
                <a:ea typeface="JetBrains Mono" pitchFamily="49" charset="-122"/>
                <a:cs typeface="JetBrains Mono" pitchFamily="49" charset="-120"/>
              </a:rPr>
              <a:t>THE PROBLEM</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A2433"/>
                </a:solidFill>
                <a:latin typeface="IBM Plex Sans" pitchFamily="34" charset="0"/>
                <a:ea typeface="IBM Plex Sans" pitchFamily="34" charset="-122"/>
                <a:cs typeface="IBM Plex Sans" pitchFamily="34" charset="-120"/>
              </a:rPr>
              <a:t>What happens when a Kafka cluster goes down</a:t>
            </a:r>
            <a:endParaRPr lang="en-US" sz="3600" dirty="0"/>
          </a:p>
        </p:txBody>
      </p:sp>
      <p:sp>
        <p:nvSpPr>
          <p:cNvPr id="4" name="Shape 2"/>
          <p:cNvSpPr/>
          <p:nvPr/>
        </p:nvSpPr>
        <p:spPr>
          <a:xfrm>
            <a:off x="815975" y="1989386"/>
            <a:ext cx="5175250" cy="1362621"/>
          </a:xfrm>
          <a:prstGeom prst="roundRect">
            <a:avLst>
              <a:gd name="adj" fmla="val 7223"/>
            </a:avLst>
          </a:prstGeom>
          <a:solidFill>
            <a:srgbClr val="FCFBF8"/>
          </a:solidFill>
          <a:ln w="6350">
            <a:solidFill>
              <a:srgbClr val="E2DED5"/>
            </a:solidFill>
            <a:prstDash val="solid"/>
          </a:ln>
        </p:spPr>
      </p:sp>
      <p:sp>
        <p:nvSpPr>
          <p:cNvPr id="5" name="Text 3"/>
          <p:cNvSpPr/>
          <p:nvPr/>
        </p:nvSpPr>
        <p:spPr>
          <a:xfrm>
            <a:off x="1073150" y="2246561"/>
            <a:ext cx="480072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2433"/>
                </a:solidFill>
                <a:latin typeface="IBM Plex Sans" pitchFamily="34" charset="0"/>
                <a:ea typeface="IBM Plex Sans" pitchFamily="34" charset="-122"/>
                <a:cs typeface="IBM Plex Sans" pitchFamily="34" charset="-120"/>
              </a:rPr>
              <a:t>Consumers stop</a:t>
            </a:r>
            <a:endParaRPr lang="en-US" sz="1800" dirty="0"/>
          </a:p>
        </p:txBody>
      </p:sp>
      <p:sp>
        <p:nvSpPr>
          <p:cNvPr id="6" name="Text 4"/>
          <p:cNvSpPr/>
          <p:nvPr/>
        </p:nvSpPr>
        <p:spPr>
          <a:xfrm>
            <a:off x="1073150" y="2597051"/>
            <a:ext cx="480072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 application is bound to one cluster. Moving to the standby means editing config and restarting by hand.</a:t>
            </a:r>
            <a:endParaRPr lang="en-US" sz="1400" dirty="0"/>
          </a:p>
        </p:txBody>
      </p:sp>
      <p:sp>
        <p:nvSpPr>
          <p:cNvPr id="7" name="Shape 5"/>
          <p:cNvSpPr/>
          <p:nvPr/>
        </p:nvSpPr>
        <p:spPr>
          <a:xfrm>
            <a:off x="6200775" y="1989386"/>
            <a:ext cx="5175250" cy="1362621"/>
          </a:xfrm>
          <a:prstGeom prst="roundRect">
            <a:avLst>
              <a:gd name="adj" fmla="val 7223"/>
            </a:avLst>
          </a:prstGeom>
          <a:solidFill>
            <a:srgbClr val="FCFBF8"/>
          </a:solidFill>
          <a:ln w="6350">
            <a:solidFill>
              <a:srgbClr val="E2DED5"/>
            </a:solidFill>
            <a:prstDash val="solid"/>
          </a:ln>
        </p:spPr>
      </p:sp>
      <p:sp>
        <p:nvSpPr>
          <p:cNvPr id="8" name="Text 6"/>
          <p:cNvSpPr/>
          <p:nvPr/>
        </p:nvSpPr>
        <p:spPr>
          <a:xfrm>
            <a:off x="6457950" y="2246561"/>
            <a:ext cx="480072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2433"/>
                </a:solidFill>
                <a:latin typeface="IBM Plex Sans" pitchFamily="34" charset="0"/>
                <a:ea typeface="IBM Plex Sans" pitchFamily="34" charset="-122"/>
                <a:cs typeface="IBM Plex Sans" pitchFamily="34" charset="-120"/>
              </a:rPr>
              <a:t>Producers lose messages</a:t>
            </a:r>
            <a:endParaRPr lang="en-US" sz="1800" dirty="0"/>
          </a:p>
        </p:txBody>
      </p:sp>
      <p:sp>
        <p:nvSpPr>
          <p:cNvPr id="9" name="Text 7"/>
          <p:cNvSpPr/>
          <p:nvPr/>
        </p:nvSpPr>
        <p:spPr>
          <a:xfrm>
            <a:off x="6457950" y="2597051"/>
            <a:ext cx="480072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 send fails, and the handler often swallows the exception: the record is acknowledged but went nowhere.</a:t>
            </a:r>
            <a:endParaRPr lang="en-US" sz="1400" dirty="0"/>
          </a:p>
        </p:txBody>
      </p:sp>
      <p:sp>
        <p:nvSpPr>
          <p:cNvPr id="10" name="Shape 8"/>
          <p:cNvSpPr/>
          <p:nvPr/>
        </p:nvSpPr>
        <p:spPr>
          <a:xfrm>
            <a:off x="815975" y="3561556"/>
            <a:ext cx="5175250" cy="1362621"/>
          </a:xfrm>
          <a:prstGeom prst="roundRect">
            <a:avLst>
              <a:gd name="adj" fmla="val 7223"/>
            </a:avLst>
          </a:prstGeom>
          <a:solidFill>
            <a:srgbClr val="FCFBF8"/>
          </a:solidFill>
          <a:ln w="6350">
            <a:solidFill>
              <a:srgbClr val="E2DED5"/>
            </a:solidFill>
            <a:prstDash val="solid"/>
          </a:ln>
        </p:spPr>
      </p:sp>
      <p:sp>
        <p:nvSpPr>
          <p:cNvPr id="11" name="Text 9"/>
          <p:cNvSpPr/>
          <p:nvPr/>
        </p:nvSpPr>
        <p:spPr>
          <a:xfrm>
            <a:off x="1073150" y="3818731"/>
            <a:ext cx="480072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2433"/>
                </a:solidFill>
                <a:latin typeface="IBM Plex Sans" pitchFamily="34" charset="0"/>
                <a:ea typeface="IBM Plex Sans" pitchFamily="34" charset="-122"/>
                <a:cs typeface="IBM Plex Sans" pitchFamily="34" charset="-120"/>
              </a:rPr>
              <a:t>Offsets don't match</a:t>
            </a:r>
            <a:endParaRPr lang="en-US" sz="1800" dirty="0"/>
          </a:p>
        </p:txBody>
      </p:sp>
      <p:sp>
        <p:nvSpPr>
          <p:cNvPr id="12" name="Text 10"/>
          <p:cNvSpPr/>
          <p:nvPr/>
        </p:nvSpPr>
        <p:spPr>
          <a:xfrm>
            <a:off x="1073150" y="4169221"/>
            <a:ext cx="480072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 standby has offsets of its own. After a switch, records are skipped or processed twice.</a:t>
            </a:r>
            <a:endParaRPr lang="en-US" sz="1400" dirty="0"/>
          </a:p>
        </p:txBody>
      </p:sp>
      <p:sp>
        <p:nvSpPr>
          <p:cNvPr id="13" name="Shape 11"/>
          <p:cNvSpPr/>
          <p:nvPr/>
        </p:nvSpPr>
        <p:spPr>
          <a:xfrm>
            <a:off x="6200775" y="3561556"/>
            <a:ext cx="5175250" cy="1362621"/>
          </a:xfrm>
          <a:prstGeom prst="roundRect">
            <a:avLst>
              <a:gd name="adj" fmla="val 7223"/>
            </a:avLst>
          </a:prstGeom>
          <a:solidFill>
            <a:srgbClr val="FCFBF8"/>
          </a:solidFill>
          <a:ln w="6350">
            <a:solidFill>
              <a:srgbClr val="E2DED5"/>
            </a:solidFill>
            <a:prstDash val="solid"/>
          </a:ln>
        </p:spPr>
      </p:sp>
      <p:sp>
        <p:nvSpPr>
          <p:cNvPr id="14" name="Text 12"/>
          <p:cNvSpPr/>
          <p:nvPr/>
        </p:nvSpPr>
        <p:spPr>
          <a:xfrm>
            <a:off x="6457950" y="3818731"/>
            <a:ext cx="480072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2433"/>
                </a:solidFill>
                <a:latin typeface="IBM Plex Sans" pitchFamily="34" charset="0"/>
                <a:ea typeface="IBM Plex Sans" pitchFamily="34" charset="-122"/>
                <a:cs typeface="IBM Plex Sans" pitchFamily="34" charset="-120"/>
              </a:rPr>
              <a:t>Bridges between Kafkas break</a:t>
            </a:r>
            <a:endParaRPr lang="en-US" sz="1800" dirty="0"/>
          </a:p>
        </p:txBody>
      </p:sp>
      <p:sp>
        <p:nvSpPr>
          <p:cNvPr id="15" name="Text 13"/>
          <p:cNvSpPr/>
          <p:nvPr/>
        </p:nvSpPr>
        <p:spPr>
          <a:xfrm>
            <a:off x="6457950" y="4169221"/>
            <a:ext cx="480072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 service moving data from one Kafka to another burns its retries in seconds and skips records.</a:t>
            </a:r>
            <a:endParaRPr lang="en-US" sz="1400" dirty="0"/>
          </a:p>
        </p:txBody>
      </p:sp>
      <p:sp>
        <p:nvSpPr>
          <p:cNvPr id="16" name="Text 14"/>
          <p:cNvSpPr/>
          <p:nvPr/>
        </p:nvSpPr>
        <p:spPr>
          <a:xfrm>
            <a:off x="812800" y="6238280"/>
            <a:ext cx="13562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Kafka DR Starter</a:t>
            </a:r>
            <a:endParaRPr lang="en-US" sz="1200" dirty="0"/>
          </a:p>
        </p:txBody>
      </p:sp>
      <p:sp>
        <p:nvSpPr>
          <p:cNvPr id="17" name="Text 15"/>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07A2E"/>
        </a:solidFill>
      </p:bgPr>
    </p:bg>
    <p:spTree>
      <p:nvGrpSpPr>
        <p:cNvPr id="1" name=""/>
        <p:cNvGrpSpPr/>
        <p:nvPr/>
      </p:nvGrpSpPr>
      <p:grpSpPr>
        <a:xfrm>
          <a:off x="0" y="0"/>
          <a:ext cx="0" cy="0"/>
          <a:chOff x="0" y="0"/>
          <a:chExt cx="0" cy="0"/>
        </a:xfrm>
      </p:grpSpPr>
      <p:sp>
        <p:nvSpPr>
          <p:cNvPr id="2" name="Text 0"/>
          <p:cNvSpPr/>
          <p:nvPr/>
        </p:nvSpPr>
        <p:spPr>
          <a:xfrm>
            <a:off x="812800" y="15113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0F1B2D"/>
                </a:solidFill>
                <a:latin typeface="JetBrains Mono" pitchFamily="49" charset="0"/>
                <a:ea typeface="JetBrains Mono" pitchFamily="49" charset="-122"/>
                <a:cs typeface="JetBrains Mono" pitchFamily="49" charset="-120"/>
              </a:rPr>
              <a:t>THE SOLUTION</a:t>
            </a:r>
            <a:endParaRPr lang="en-US" sz="1400" dirty="0"/>
          </a:p>
        </p:txBody>
      </p:sp>
      <p:sp>
        <p:nvSpPr>
          <p:cNvPr id="3" name="Text 1"/>
          <p:cNvSpPr/>
          <p:nvPr>
            <p:ph type="title"/>
          </p:nvPr>
        </p:nvSpPr>
        <p:spPr>
          <a:xfrm>
            <a:off x="812800" y="2064990"/>
            <a:ext cx="10464800" cy="2362200"/>
          </a:xfrm>
          <a:prstGeom prst="rect">
            <a:avLst/>
          </a:prstGeom>
          <a:noFill/>
          <a:ln/>
        </p:spPr>
        <p:txBody>
          <a:bodyPr wrap="square" lIns="0" tIns="0" rIns="0" bIns="0" rtlCol="0" anchor="t">
            <a:normAutofit/>
          </a:bodyPr>
          <a:lstStyle/>
          <a:p>
            <a:pPr algn="l" indent="0" marL="0">
              <a:lnSpc>
                <a:spcPts val="4600"/>
              </a:lnSpc>
              <a:buNone/>
            </a:pPr>
            <a:r>
              <a:rPr lang="en-US" sz="4000" b="1" i="0" dirty="0">
                <a:solidFill>
                  <a:srgbClr val="0F1B2D"/>
                </a:solidFill>
                <a:latin typeface="IBM Plex Sans" pitchFamily="34" charset="0"/>
                <a:ea typeface="IBM Plex Sans" pitchFamily="34" charset="-122"/>
                <a:cs typeface="IBM Plex Sans" pitchFamily="34" charset="-120"/>
              </a:rPr>
              <a:t>The application writes ordinary handlers. Choosing the cluster, failing over, deduplicating and restoring the position is the starter's job — driven by configuration.</a:t>
            </a:r>
            <a:endParaRPr lang="en-US" sz="4000" dirty="0"/>
          </a:p>
        </p:txBody>
      </p:sp>
      <p:sp>
        <p:nvSpPr>
          <p:cNvPr id="4" name="Text 2"/>
          <p:cNvSpPr/>
          <p:nvPr/>
        </p:nvSpPr>
        <p:spPr>
          <a:xfrm>
            <a:off x="812800" y="4706590"/>
            <a:ext cx="981075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C"/>
                </a:solidFill>
                <a:latin typeface="IBM Plex Sans" pitchFamily="34" charset="0"/>
                <a:ea typeface="IBM Plex Sans" pitchFamily="34" charset="-122"/>
                <a:cs typeface="IBM Plex Sans" pitchFamily="34" charset="-120"/>
              </a:rPr>
              <a:t>One YAML: clusters with priorities, consumers, producers. MirrorMaker 2 replicates the data between clusters.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61B"/>
                </a:solidFill>
                <a:latin typeface="JetBrains Mono" pitchFamily="49" charset="0"/>
                <a:ea typeface="JetBrains Mono" pitchFamily="49" charset="-122"/>
                <a:cs typeface="JetBrains Mono" pitchFamily="49" charset="-120"/>
              </a:rPr>
              <a:t>HOW IT WORKS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A2433"/>
                </a:solidFill>
                <a:latin typeface="IBM Plex Sans" pitchFamily="34" charset="0"/>
                <a:ea typeface="IBM Plex Sans" pitchFamily="34" charset="-122"/>
                <a:cs typeface="IBM Plex Sans" pitchFamily="34" charset="-120"/>
              </a:rPr>
              <a:t>Observe, decide, act</a:t>
            </a:r>
            <a:endParaRPr lang="en-US" sz="3600" dirty="0"/>
          </a:p>
        </p:txBody>
      </p:sp>
      <p:sp>
        <p:nvSpPr>
          <p:cNvPr id="4" name="Shape 2"/>
          <p:cNvSpPr/>
          <p:nvPr/>
        </p:nvSpPr>
        <p:spPr>
          <a:xfrm>
            <a:off x="815975" y="2403673"/>
            <a:ext cx="3198267" cy="1250851"/>
          </a:xfrm>
          <a:prstGeom prst="roundRect">
            <a:avLst>
              <a:gd name="adj" fmla="val 7869"/>
            </a:avLst>
          </a:prstGeom>
          <a:solidFill>
            <a:srgbClr val="FCFBF8"/>
          </a:solidFill>
          <a:ln w="6350">
            <a:solidFill>
              <a:srgbClr val="E2DED5"/>
            </a:solidFill>
            <a:prstDash val="solid"/>
          </a:ln>
        </p:spPr>
      </p:sp>
      <p:sp>
        <p:nvSpPr>
          <p:cNvPr id="5" name="Text 3"/>
          <p:cNvSpPr/>
          <p:nvPr/>
        </p:nvSpPr>
        <p:spPr>
          <a:xfrm>
            <a:off x="1047750" y="2635448"/>
            <a:ext cx="28167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B3"/>
                </a:solidFill>
                <a:latin typeface="JetBrains Mono" pitchFamily="49" charset="0"/>
                <a:ea typeface="JetBrains Mono" pitchFamily="49" charset="-122"/>
                <a:cs typeface="JetBrains Mono" pitchFamily="49" charset="-120"/>
              </a:rPr>
              <a:t>ClusterHealthChecker</a:t>
            </a:r>
            <a:endParaRPr lang="en-US" sz="1200" dirty="0"/>
          </a:p>
        </p:txBody>
      </p:sp>
      <p:sp>
        <p:nvSpPr>
          <p:cNvPr id="6" name="Text 4"/>
          <p:cNvSpPr/>
          <p:nvPr/>
        </p:nvSpPr>
        <p:spPr>
          <a:xfrm>
            <a:off x="1047750" y="2924969"/>
            <a:ext cx="281675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AdminClient probes of every cluster at a set interval</a:t>
            </a:r>
            <a:endParaRPr lang="en-US" sz="1400" dirty="0"/>
          </a:p>
        </p:txBody>
      </p:sp>
      <p:pic>
        <p:nvPicPr>
          <p:cNvPr id="7" name="Image 0" descr="arrow-right">    </p:cNvPr>
          <p:cNvPicPr>
            <a:picLocks noChangeAspect="1"/>
          </p:cNvPicPr>
          <p:nvPr/>
        </p:nvPicPr>
        <p:blipFill>
          <a:blip r:embed="rId1"/>
          <a:srcRect l="0" r="0" t="0" b="0"/>
          <a:stretch/>
        </p:blipFill>
        <p:spPr>
          <a:xfrm>
            <a:off x="4169817" y="2914799"/>
            <a:ext cx="406400" cy="228600"/>
          </a:xfrm>
          <a:prstGeom prst="rect">
            <a:avLst/>
          </a:prstGeom>
        </p:spPr>
      </p:pic>
      <p:sp>
        <p:nvSpPr>
          <p:cNvPr id="8" name="Shape 5"/>
          <p:cNvSpPr/>
          <p:nvPr/>
        </p:nvSpPr>
        <p:spPr>
          <a:xfrm>
            <a:off x="4731792" y="2403673"/>
            <a:ext cx="3198316" cy="1250851"/>
          </a:xfrm>
          <a:prstGeom prst="roundRect">
            <a:avLst>
              <a:gd name="adj" fmla="val 7869"/>
            </a:avLst>
          </a:prstGeom>
          <a:solidFill>
            <a:srgbClr val="FCFBF8"/>
          </a:solidFill>
          <a:ln w="6350">
            <a:solidFill>
              <a:srgbClr val="E2DED5"/>
            </a:solidFill>
            <a:prstDash val="solid"/>
          </a:ln>
        </p:spPr>
      </p:sp>
      <p:sp>
        <p:nvSpPr>
          <p:cNvPr id="9" name="Text 6"/>
          <p:cNvSpPr/>
          <p:nvPr/>
        </p:nvSpPr>
        <p:spPr>
          <a:xfrm>
            <a:off x="4963567" y="2635448"/>
            <a:ext cx="28168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B3"/>
                </a:solidFill>
                <a:latin typeface="JetBrains Mono" pitchFamily="49" charset="0"/>
                <a:ea typeface="JetBrains Mono" pitchFamily="49" charset="-122"/>
                <a:cs typeface="JetBrains Mono" pitchFamily="49" charset="-120"/>
              </a:rPr>
              <a:t>ActiveClusterManager</a:t>
            </a:r>
            <a:endParaRPr lang="en-US" sz="1200" dirty="0"/>
          </a:p>
        </p:txBody>
      </p:sp>
      <p:sp>
        <p:nvSpPr>
          <p:cNvPr id="10" name="Text 7"/>
          <p:cNvSpPr/>
          <p:nvPr/>
        </p:nvSpPr>
        <p:spPr>
          <a:xfrm>
            <a:off x="4963567" y="2924969"/>
            <a:ext cx="2816809"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Thresholds, election by priority, failback-after, persisted state</a:t>
            </a:r>
            <a:endParaRPr lang="en-US" sz="1400" dirty="0"/>
          </a:p>
        </p:txBody>
      </p:sp>
      <p:pic>
        <p:nvPicPr>
          <p:cNvPr id="11" name="Image 1" descr="arrow-right">    </p:cNvPr>
          <p:cNvPicPr>
            <a:picLocks noChangeAspect="1"/>
          </p:cNvPicPr>
          <p:nvPr/>
        </p:nvPicPr>
        <p:blipFill>
          <a:blip r:embed="rId2"/>
          <a:srcRect l="0" r="0" t="0" b="0"/>
          <a:stretch/>
        </p:blipFill>
        <p:spPr>
          <a:xfrm>
            <a:off x="8085683" y="2914799"/>
            <a:ext cx="406400" cy="228600"/>
          </a:xfrm>
          <a:prstGeom prst="rect">
            <a:avLst/>
          </a:prstGeom>
        </p:spPr>
      </p:pic>
      <p:sp>
        <p:nvSpPr>
          <p:cNvPr id="12" name="Shape 8"/>
          <p:cNvSpPr/>
          <p:nvPr/>
        </p:nvSpPr>
        <p:spPr>
          <a:xfrm>
            <a:off x="8647658" y="1989386"/>
            <a:ext cx="2728367" cy="1071761"/>
          </a:xfrm>
          <a:prstGeom prst="roundRect">
            <a:avLst>
              <a:gd name="adj" fmla="val 9183"/>
            </a:avLst>
          </a:prstGeom>
          <a:solidFill>
            <a:srgbClr val="FCFBF8"/>
          </a:solidFill>
          <a:ln w="6350">
            <a:solidFill>
              <a:srgbClr val="E2DED5"/>
            </a:solidFill>
            <a:prstDash val="solid"/>
          </a:ln>
        </p:spPr>
      </p:sp>
      <p:sp>
        <p:nvSpPr>
          <p:cNvPr id="13" name="Text 9"/>
          <p:cNvSpPr/>
          <p:nvPr/>
        </p:nvSpPr>
        <p:spPr>
          <a:xfrm>
            <a:off x="8879433" y="2170361"/>
            <a:ext cx="23327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B3"/>
                </a:solidFill>
                <a:latin typeface="JetBrains Mono" pitchFamily="49" charset="0"/>
                <a:ea typeface="JetBrains Mono" pitchFamily="49" charset="-122"/>
                <a:cs typeface="JetBrains Mono" pitchFamily="49" charset="-120"/>
              </a:rPr>
              <a:t>BindingLifecycleManager</a:t>
            </a:r>
            <a:endParaRPr lang="en-US" sz="1200" dirty="0"/>
          </a:p>
        </p:txBody>
      </p:sp>
      <p:sp>
        <p:nvSpPr>
          <p:cNvPr id="14" name="Text 10"/>
          <p:cNvSpPr/>
          <p:nvPr/>
        </p:nvSpPr>
        <p:spPr>
          <a:xfrm>
            <a:off x="8879433" y="2434481"/>
            <a:ext cx="233276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Stops and starts the consumers</a:t>
            </a:r>
            <a:endParaRPr lang="en-US" sz="1300" dirty="0"/>
          </a:p>
        </p:txBody>
      </p:sp>
      <p:sp>
        <p:nvSpPr>
          <p:cNvPr id="15" name="Shape 11"/>
          <p:cNvSpPr/>
          <p:nvPr/>
        </p:nvSpPr>
        <p:spPr>
          <a:xfrm>
            <a:off x="8647658" y="3219896"/>
            <a:ext cx="2728367" cy="848916"/>
          </a:xfrm>
          <a:prstGeom prst="roundRect">
            <a:avLst>
              <a:gd name="adj" fmla="val 11594"/>
            </a:avLst>
          </a:prstGeom>
          <a:solidFill>
            <a:srgbClr val="FCFBF8"/>
          </a:solidFill>
          <a:ln w="6350">
            <a:solidFill>
              <a:srgbClr val="E2DED5"/>
            </a:solidFill>
            <a:prstDash val="solid"/>
          </a:ln>
        </p:spPr>
      </p:sp>
      <p:sp>
        <p:nvSpPr>
          <p:cNvPr id="16" name="Text 12"/>
          <p:cNvSpPr/>
          <p:nvPr/>
        </p:nvSpPr>
        <p:spPr>
          <a:xfrm>
            <a:off x="8879433" y="3400871"/>
            <a:ext cx="23327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B3"/>
                </a:solidFill>
                <a:latin typeface="JetBrains Mono" pitchFamily="49" charset="0"/>
                <a:ea typeface="JetBrains Mono" pitchFamily="49" charset="-122"/>
                <a:cs typeface="JetBrains Mono" pitchFamily="49" charset="-120"/>
              </a:rPr>
              <a:t>ResilientProducer</a:t>
            </a:r>
            <a:endParaRPr lang="en-US" sz="1200" dirty="0"/>
          </a:p>
        </p:txBody>
      </p:sp>
      <p:sp>
        <p:nvSpPr>
          <p:cNvPr id="17" name="Text 13"/>
          <p:cNvSpPr/>
          <p:nvPr/>
        </p:nvSpPr>
        <p:spPr>
          <a:xfrm>
            <a:off x="8879433" y="3664992"/>
            <a:ext cx="2332761"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Writes to the active cluster</a:t>
            </a:r>
            <a:endParaRPr lang="en-US" sz="1300" dirty="0"/>
          </a:p>
        </p:txBody>
      </p:sp>
      <p:sp>
        <p:nvSpPr>
          <p:cNvPr id="18" name="Shape 14"/>
          <p:cNvSpPr/>
          <p:nvPr/>
        </p:nvSpPr>
        <p:spPr>
          <a:xfrm>
            <a:off x="812800" y="4427587"/>
            <a:ext cx="10566400" cy="673100"/>
          </a:xfrm>
          <a:prstGeom prst="roundRect">
            <a:avLst>
              <a:gd name="adj" fmla="val 15094"/>
            </a:avLst>
          </a:prstGeom>
          <a:solidFill>
            <a:srgbClr val="0F1B2D"/>
          </a:solidFill>
          <a:ln/>
        </p:spPr>
      </p:sp>
      <p:sp>
        <p:nvSpPr>
          <p:cNvPr id="19" name="Text 15"/>
          <p:cNvSpPr/>
          <p:nvPr/>
        </p:nvSpPr>
        <p:spPr>
          <a:xfrm>
            <a:off x="1066800" y="4630787"/>
            <a:ext cx="83921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5F3EE"/>
                </a:solidFill>
                <a:latin typeface="IBM Plex Sans" pitchFamily="34" charset="0"/>
                <a:ea typeface="IBM Plex Sans" pitchFamily="34" charset="-122"/>
                <a:cs typeface="IBM Plex Sans" pitchFamily="34" charset="-120"/>
              </a:rPr>
              <a:t>Primary</a:t>
            </a:r>
            <a:endParaRPr lang="en-US" sz="1500" dirty="0"/>
          </a:p>
        </p:txBody>
      </p:sp>
      <p:pic>
        <p:nvPicPr>
          <p:cNvPr id="20" name="Image 2" descr="arrow-right">    </p:cNvPr>
          <p:cNvPicPr>
            <a:picLocks noChangeAspect="1"/>
          </p:cNvPicPr>
          <p:nvPr/>
        </p:nvPicPr>
        <p:blipFill>
          <a:blip r:embed="rId3"/>
          <a:srcRect l="0" r="0" t="0" b="0"/>
          <a:stretch/>
        </p:blipFill>
        <p:spPr>
          <a:xfrm>
            <a:off x="1918543" y="4649837"/>
            <a:ext cx="457200" cy="228600"/>
          </a:xfrm>
          <a:prstGeom prst="rect">
            <a:avLst/>
          </a:prstGeom>
        </p:spPr>
      </p:pic>
      <p:sp>
        <p:nvSpPr>
          <p:cNvPr id="21" name="Text 16"/>
          <p:cNvSpPr/>
          <p:nvPr/>
        </p:nvSpPr>
        <p:spPr>
          <a:xfrm>
            <a:off x="2528143" y="4648547"/>
            <a:ext cx="144021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0954F"/>
                </a:solidFill>
                <a:latin typeface="JetBrains Mono" pitchFamily="49" charset="0"/>
                <a:ea typeface="JetBrains Mono" pitchFamily="49" charset="-122"/>
                <a:cs typeface="JetBrains Mono" pitchFamily="49" charset="-120"/>
              </a:rPr>
              <a:t>MirrorMaker 2</a:t>
            </a:r>
            <a:endParaRPr lang="en-US" sz="1300" dirty="0"/>
          </a:p>
        </p:txBody>
      </p:sp>
      <p:pic>
        <p:nvPicPr>
          <p:cNvPr id="22" name="Image 3" descr="arrow-right">    </p:cNvPr>
          <p:cNvPicPr>
            <a:picLocks noChangeAspect="1"/>
          </p:cNvPicPr>
          <p:nvPr/>
        </p:nvPicPr>
        <p:blipFill>
          <a:blip r:embed="rId4"/>
          <a:srcRect l="0" r="0" t="0" b="0"/>
          <a:stretch/>
        </p:blipFill>
        <p:spPr>
          <a:xfrm>
            <a:off x="3968353" y="4649837"/>
            <a:ext cx="457200" cy="228600"/>
          </a:xfrm>
          <a:prstGeom prst="rect">
            <a:avLst/>
          </a:prstGeom>
        </p:spPr>
      </p:pic>
      <p:sp>
        <p:nvSpPr>
          <p:cNvPr id="23" name="Text 17"/>
          <p:cNvSpPr/>
          <p:nvPr/>
        </p:nvSpPr>
        <p:spPr>
          <a:xfrm>
            <a:off x="4577953" y="4630787"/>
            <a:ext cx="87838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5F3EE"/>
                </a:solidFill>
                <a:latin typeface="IBM Plex Sans" pitchFamily="34" charset="0"/>
                <a:ea typeface="IBM Plex Sans" pitchFamily="34" charset="-122"/>
                <a:cs typeface="IBM Plex Sans" pitchFamily="34" charset="-120"/>
              </a:rPr>
              <a:t>Standby</a:t>
            </a:r>
            <a:endParaRPr lang="en-US" sz="1500" dirty="0"/>
          </a:p>
        </p:txBody>
      </p:sp>
      <p:sp>
        <p:nvSpPr>
          <p:cNvPr id="24" name="Text 18"/>
          <p:cNvSpPr/>
          <p:nvPr/>
        </p:nvSpPr>
        <p:spPr>
          <a:xfrm>
            <a:off x="5462339" y="4648547"/>
            <a:ext cx="453878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4D6"/>
                </a:solidFill>
                <a:latin typeface="IBM Plex Sans" pitchFamily="34" charset="0"/>
                <a:ea typeface="IBM Plex Sans" pitchFamily="34" charset="-122"/>
                <a:cs typeface="IBM Plex Sans" pitchFamily="34" charset="-120"/>
              </a:rPr>
              <a:t>— replication outside the starter, same topic names</a:t>
            </a:r>
            <a:endParaRPr lang="en-US" sz="1300" dirty="0"/>
          </a:p>
        </p:txBody>
      </p:sp>
      <p:sp>
        <p:nvSpPr>
          <p:cNvPr id="25" name="Text 19"/>
          <p:cNvSpPr/>
          <p:nvPr/>
        </p:nvSpPr>
        <p:spPr>
          <a:xfrm>
            <a:off x="812800" y="6238280"/>
            <a:ext cx="13562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Kafka DR Starter</a:t>
            </a:r>
            <a:endParaRPr lang="en-US" sz="1200" dirty="0"/>
          </a:p>
        </p:txBody>
      </p:sp>
      <p:sp>
        <p:nvSpPr>
          <p:cNvPr id="26" name="Text 20"/>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0954F"/>
                </a:solidFill>
                <a:latin typeface="JetBrains Mono" pitchFamily="49" charset="0"/>
                <a:ea typeface="JetBrains Mono" pitchFamily="49" charset="-122"/>
                <a:cs typeface="JetBrains Mono" pitchFamily="49" charset="-120"/>
              </a:rPr>
              <a:t>FAILOVER</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3EE"/>
                </a:solidFill>
                <a:latin typeface="IBM Plex Sans" pitchFamily="34" charset="0"/>
                <a:ea typeface="IBM Plex Sans" pitchFamily="34" charset="-122"/>
                <a:cs typeface="IBM Plex Sans" pitchFamily="34" charset="-120"/>
              </a:rPr>
              <a:t>Failover in five steps — no human involved</a:t>
            </a:r>
            <a:endParaRPr lang="en-US" sz="3600" dirty="0"/>
          </a:p>
        </p:txBody>
      </p:sp>
      <p:sp>
        <p:nvSpPr>
          <p:cNvPr id="4" name="Shape 2"/>
          <p:cNvSpPr/>
          <p:nvPr/>
        </p:nvSpPr>
        <p:spPr>
          <a:xfrm>
            <a:off x="812800" y="1998911"/>
            <a:ext cx="1991320" cy="0"/>
          </a:xfrm>
          <a:prstGeom prst="line">
            <a:avLst/>
          </a:prstGeom>
          <a:noFill/>
          <a:ln w="25400">
            <a:solidFill>
              <a:srgbClr val="F0954F"/>
            </a:solidFill>
            <a:prstDash val="solid"/>
          </a:ln>
        </p:spPr>
      </p:sp>
      <p:sp>
        <p:nvSpPr>
          <p:cNvPr id="5" name="Text 3"/>
          <p:cNvSpPr/>
          <p:nvPr/>
        </p:nvSpPr>
        <p:spPr>
          <a:xfrm>
            <a:off x="812800" y="2164011"/>
            <a:ext cx="205106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954F"/>
                </a:solidFill>
                <a:latin typeface="JetBrains Mono" pitchFamily="49" charset="0"/>
                <a:ea typeface="JetBrains Mono" pitchFamily="49" charset="-122"/>
                <a:cs typeface="JetBrains Mono" pitchFamily="49" charset="-120"/>
              </a:rPr>
              <a:t>01</a:t>
            </a:r>
            <a:endParaRPr lang="en-US" sz="2200" dirty="0"/>
          </a:p>
        </p:txBody>
      </p:sp>
      <p:sp>
        <p:nvSpPr>
          <p:cNvPr id="6" name="Text 4"/>
          <p:cNvSpPr/>
          <p:nvPr/>
        </p:nvSpPr>
        <p:spPr>
          <a:xfrm>
            <a:off x="812800" y="2656731"/>
            <a:ext cx="20510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3EE"/>
                </a:solidFill>
                <a:latin typeface="IBM Plex Sans" pitchFamily="34" charset="0"/>
                <a:ea typeface="IBM Plex Sans" pitchFamily="34" charset="-122"/>
                <a:cs typeface="IBM Plex Sans" pitchFamily="34" charset="-120"/>
              </a:rPr>
              <a:t>Probe</a:t>
            </a:r>
            <a:endParaRPr lang="en-US" sz="1600" dirty="0"/>
          </a:p>
        </p:txBody>
      </p:sp>
      <p:sp>
        <p:nvSpPr>
          <p:cNvPr id="7" name="Text 5"/>
          <p:cNvSpPr/>
          <p:nvPr/>
        </p:nvSpPr>
        <p:spPr>
          <a:xfrm>
            <a:off x="812800" y="3002161"/>
            <a:ext cx="205106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4D6"/>
                </a:solidFill>
                <a:latin typeface="IBM Plex Sans" pitchFamily="34" charset="0"/>
                <a:ea typeface="IBM Plex Sans" pitchFamily="34" charset="-122"/>
                <a:cs typeface="IBM Plex Sans" pitchFamily="34" charset="-120"/>
              </a:rPr>
              <a:t>describeCluster every 5 s; the deep probe checks partition leaders</a:t>
            </a:r>
            <a:endParaRPr lang="en-US" sz="1300" dirty="0"/>
          </a:p>
        </p:txBody>
      </p:sp>
      <p:sp>
        <p:nvSpPr>
          <p:cNvPr id="8" name="Shape 6"/>
          <p:cNvSpPr/>
          <p:nvPr/>
        </p:nvSpPr>
        <p:spPr>
          <a:xfrm>
            <a:off x="2956520" y="1998911"/>
            <a:ext cx="1991370" cy="0"/>
          </a:xfrm>
          <a:prstGeom prst="line">
            <a:avLst/>
          </a:prstGeom>
          <a:noFill/>
          <a:ln w="25400">
            <a:solidFill>
              <a:srgbClr val="F0954F"/>
            </a:solidFill>
            <a:prstDash val="solid"/>
          </a:ln>
        </p:spPr>
      </p:sp>
      <p:sp>
        <p:nvSpPr>
          <p:cNvPr id="9" name="Text 7"/>
          <p:cNvSpPr/>
          <p:nvPr/>
        </p:nvSpPr>
        <p:spPr>
          <a:xfrm>
            <a:off x="2956520" y="2164011"/>
            <a:ext cx="2051111"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954F"/>
                </a:solidFill>
                <a:latin typeface="JetBrains Mono" pitchFamily="49" charset="0"/>
                <a:ea typeface="JetBrains Mono" pitchFamily="49" charset="-122"/>
                <a:cs typeface="JetBrains Mono" pitchFamily="49" charset="-120"/>
              </a:rPr>
              <a:t>02</a:t>
            </a:r>
            <a:endParaRPr lang="en-US" sz="2200" dirty="0"/>
          </a:p>
        </p:txBody>
      </p:sp>
      <p:sp>
        <p:nvSpPr>
          <p:cNvPr id="10" name="Text 8"/>
          <p:cNvSpPr/>
          <p:nvPr/>
        </p:nvSpPr>
        <p:spPr>
          <a:xfrm>
            <a:off x="2956520" y="2656731"/>
            <a:ext cx="20511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3EE"/>
                </a:solidFill>
                <a:latin typeface="IBM Plex Sans" pitchFamily="34" charset="0"/>
                <a:ea typeface="IBM Plex Sans" pitchFamily="34" charset="-122"/>
                <a:cs typeface="IBM Plex Sans" pitchFamily="34" charset="-120"/>
              </a:rPr>
              <a:t>Threshold</a:t>
            </a:r>
            <a:endParaRPr lang="en-US" sz="1600" dirty="0"/>
          </a:p>
        </p:txBody>
      </p:sp>
      <p:sp>
        <p:nvSpPr>
          <p:cNvPr id="11" name="Text 9"/>
          <p:cNvSpPr/>
          <p:nvPr/>
        </p:nvSpPr>
        <p:spPr>
          <a:xfrm>
            <a:off x="2956520" y="3002161"/>
            <a:ext cx="2051111"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4D6"/>
                </a:solidFill>
                <a:latin typeface="IBM Plex Sans" pitchFamily="34" charset="0"/>
                <a:ea typeface="IBM Plex Sans" pitchFamily="34" charset="-122"/>
                <a:cs typeface="IBM Plex Sans" pitchFamily="34" charset="-120"/>
              </a:rPr>
              <a:t>2 failures in a row mark a cluster unhealthy. A send that proves it down — at once</a:t>
            </a:r>
            <a:endParaRPr lang="en-US" sz="1300" dirty="0"/>
          </a:p>
        </p:txBody>
      </p:sp>
      <p:sp>
        <p:nvSpPr>
          <p:cNvPr id="12" name="Shape 10"/>
          <p:cNvSpPr/>
          <p:nvPr/>
        </p:nvSpPr>
        <p:spPr>
          <a:xfrm>
            <a:off x="5100290" y="1998911"/>
            <a:ext cx="1991370" cy="0"/>
          </a:xfrm>
          <a:prstGeom prst="line">
            <a:avLst/>
          </a:prstGeom>
          <a:noFill/>
          <a:ln w="25400">
            <a:solidFill>
              <a:srgbClr val="F0954F"/>
            </a:solidFill>
            <a:prstDash val="solid"/>
          </a:ln>
        </p:spPr>
      </p:sp>
      <p:sp>
        <p:nvSpPr>
          <p:cNvPr id="13" name="Text 11"/>
          <p:cNvSpPr/>
          <p:nvPr/>
        </p:nvSpPr>
        <p:spPr>
          <a:xfrm>
            <a:off x="5100290" y="2164011"/>
            <a:ext cx="2051111"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954F"/>
                </a:solidFill>
                <a:latin typeface="JetBrains Mono" pitchFamily="49" charset="0"/>
                <a:ea typeface="JetBrains Mono" pitchFamily="49" charset="-122"/>
                <a:cs typeface="JetBrains Mono" pitchFamily="49" charset="-120"/>
              </a:rPr>
              <a:t>03</a:t>
            </a:r>
            <a:endParaRPr lang="en-US" sz="2200" dirty="0"/>
          </a:p>
        </p:txBody>
      </p:sp>
      <p:sp>
        <p:nvSpPr>
          <p:cNvPr id="14" name="Text 12"/>
          <p:cNvSpPr/>
          <p:nvPr/>
        </p:nvSpPr>
        <p:spPr>
          <a:xfrm>
            <a:off x="5100290" y="2656731"/>
            <a:ext cx="20511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3EE"/>
                </a:solidFill>
                <a:latin typeface="IBM Plex Sans" pitchFamily="34" charset="0"/>
                <a:ea typeface="IBM Plex Sans" pitchFamily="34" charset="-122"/>
                <a:cs typeface="IBM Plex Sans" pitchFamily="34" charset="-120"/>
              </a:rPr>
              <a:t>Election</a:t>
            </a:r>
            <a:endParaRPr lang="en-US" sz="1600" dirty="0"/>
          </a:p>
        </p:txBody>
      </p:sp>
      <p:sp>
        <p:nvSpPr>
          <p:cNvPr id="15" name="Text 13"/>
          <p:cNvSpPr/>
          <p:nvPr/>
        </p:nvSpPr>
        <p:spPr>
          <a:xfrm>
            <a:off x="5100290" y="3002161"/>
            <a:ext cx="2051111"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4D6"/>
                </a:solidFill>
                <a:latin typeface="IBM Plex Sans" pitchFamily="34" charset="0"/>
                <a:ea typeface="IBM Plex Sans" pitchFamily="34" charset="-122"/>
                <a:cs typeface="IBM Plex Sans" pitchFamily="34" charset="-120"/>
              </a:rPr>
              <a:t>The healthy cluster with the highest priority becomes active</a:t>
            </a:r>
            <a:endParaRPr lang="en-US" sz="1300" dirty="0"/>
          </a:p>
        </p:txBody>
      </p:sp>
      <p:sp>
        <p:nvSpPr>
          <p:cNvPr id="16" name="Shape 14"/>
          <p:cNvSpPr/>
          <p:nvPr/>
        </p:nvSpPr>
        <p:spPr>
          <a:xfrm>
            <a:off x="7244060" y="1998911"/>
            <a:ext cx="1991370" cy="0"/>
          </a:xfrm>
          <a:prstGeom prst="line">
            <a:avLst/>
          </a:prstGeom>
          <a:noFill/>
          <a:ln w="25400">
            <a:solidFill>
              <a:srgbClr val="F0954F"/>
            </a:solidFill>
            <a:prstDash val="solid"/>
          </a:ln>
        </p:spPr>
      </p:sp>
      <p:sp>
        <p:nvSpPr>
          <p:cNvPr id="17" name="Text 15"/>
          <p:cNvSpPr/>
          <p:nvPr/>
        </p:nvSpPr>
        <p:spPr>
          <a:xfrm>
            <a:off x="7244060" y="2164011"/>
            <a:ext cx="2051111"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954F"/>
                </a:solidFill>
                <a:latin typeface="JetBrains Mono" pitchFamily="49" charset="0"/>
                <a:ea typeface="JetBrains Mono" pitchFamily="49" charset="-122"/>
                <a:cs typeface="JetBrains Mono" pitchFamily="49" charset="-120"/>
              </a:rPr>
              <a:t>04</a:t>
            </a:r>
            <a:endParaRPr lang="en-US" sz="2200" dirty="0"/>
          </a:p>
        </p:txBody>
      </p:sp>
      <p:sp>
        <p:nvSpPr>
          <p:cNvPr id="18" name="Text 16"/>
          <p:cNvSpPr/>
          <p:nvPr/>
        </p:nvSpPr>
        <p:spPr>
          <a:xfrm>
            <a:off x="7244060" y="2656731"/>
            <a:ext cx="20511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3EE"/>
                </a:solidFill>
                <a:latin typeface="IBM Plex Sans" pitchFamily="34" charset="0"/>
                <a:ea typeface="IBM Plex Sans" pitchFamily="34" charset="-122"/>
                <a:cs typeface="IBM Plex Sans" pitchFamily="34" charset="-120"/>
              </a:rPr>
              <a:t>Switch</a:t>
            </a:r>
            <a:endParaRPr lang="en-US" sz="1600" dirty="0"/>
          </a:p>
        </p:txBody>
      </p:sp>
      <p:sp>
        <p:nvSpPr>
          <p:cNvPr id="19" name="Text 17"/>
          <p:cNvSpPr/>
          <p:nvPr/>
        </p:nvSpPr>
        <p:spPr>
          <a:xfrm>
            <a:off x="7244060" y="3002161"/>
            <a:ext cx="2051111"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4D6"/>
                </a:solidFill>
                <a:latin typeface="IBM Plex Sans" pitchFamily="34" charset="0"/>
                <a:ea typeface="IBM Plex Sans" pitchFamily="34" charset="-122"/>
                <a:cs typeface="IBM Plex Sans" pitchFamily="34" charset="-120"/>
              </a:rPr>
              <a:t>Consumers stop on the old cluster, start on the new one, seek by time</a:t>
            </a:r>
            <a:endParaRPr lang="en-US" sz="1300" dirty="0"/>
          </a:p>
        </p:txBody>
      </p:sp>
      <p:sp>
        <p:nvSpPr>
          <p:cNvPr id="20" name="Shape 18"/>
          <p:cNvSpPr/>
          <p:nvPr/>
        </p:nvSpPr>
        <p:spPr>
          <a:xfrm>
            <a:off x="9387830" y="1998911"/>
            <a:ext cx="1991370" cy="0"/>
          </a:xfrm>
          <a:prstGeom prst="line">
            <a:avLst/>
          </a:prstGeom>
          <a:noFill/>
          <a:ln w="25400">
            <a:solidFill>
              <a:srgbClr val="F0954F"/>
            </a:solidFill>
            <a:prstDash val="solid"/>
          </a:ln>
        </p:spPr>
      </p:sp>
      <p:sp>
        <p:nvSpPr>
          <p:cNvPr id="21" name="Text 19"/>
          <p:cNvSpPr/>
          <p:nvPr/>
        </p:nvSpPr>
        <p:spPr>
          <a:xfrm>
            <a:off x="9387830" y="2164011"/>
            <a:ext cx="2051111"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954F"/>
                </a:solidFill>
                <a:latin typeface="JetBrains Mono" pitchFamily="49" charset="0"/>
                <a:ea typeface="JetBrains Mono" pitchFamily="49" charset="-122"/>
                <a:cs typeface="JetBrains Mono" pitchFamily="49" charset="-120"/>
              </a:rPr>
              <a:t>05</a:t>
            </a:r>
            <a:endParaRPr lang="en-US" sz="2200" dirty="0"/>
          </a:p>
        </p:txBody>
      </p:sp>
      <p:sp>
        <p:nvSpPr>
          <p:cNvPr id="22" name="Text 20"/>
          <p:cNvSpPr/>
          <p:nvPr/>
        </p:nvSpPr>
        <p:spPr>
          <a:xfrm>
            <a:off x="9387830" y="2656731"/>
            <a:ext cx="20511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3EE"/>
                </a:solidFill>
                <a:latin typeface="IBM Plex Sans" pitchFamily="34" charset="0"/>
                <a:ea typeface="IBM Plex Sans" pitchFamily="34" charset="-122"/>
                <a:cs typeface="IBM Plex Sans" pitchFamily="34" charset="-120"/>
              </a:rPr>
              <a:t>Failback</a:t>
            </a:r>
            <a:endParaRPr lang="en-US" sz="1600" dirty="0"/>
          </a:p>
        </p:txBody>
      </p:sp>
      <p:sp>
        <p:nvSpPr>
          <p:cNvPr id="23" name="Text 21"/>
          <p:cNvSpPr/>
          <p:nvPr/>
        </p:nvSpPr>
        <p:spPr>
          <a:xfrm>
            <a:off x="9387830" y="3002161"/>
            <a:ext cx="2051111"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4D6"/>
                </a:solidFill>
                <a:latin typeface="IBM Plex Sans" pitchFamily="34" charset="0"/>
                <a:ea typeface="IBM Plex Sans" pitchFamily="34" charset="-122"/>
                <a:cs typeface="IBM Plex Sans" pitchFamily="34" charset="-120"/>
              </a:rPr>
              <a:t>After 3 healthy probes, and not before failback-after</a:t>
            </a:r>
            <a:endParaRPr lang="en-US" sz="1300" dirty="0"/>
          </a:p>
        </p:txBody>
      </p:sp>
      <p:sp>
        <p:nvSpPr>
          <p:cNvPr id="24" name="Text 22"/>
          <p:cNvSpPr/>
          <p:nvPr/>
        </p:nvSpPr>
        <p:spPr>
          <a:xfrm>
            <a:off x="812800" y="4282281"/>
            <a:ext cx="981075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D6"/>
                </a:solidFill>
                <a:latin typeface="IBM Plex Sans" pitchFamily="34" charset="0"/>
                <a:ea typeface="IBM Plex Sans" pitchFamily="34" charset="-122"/>
                <a:cs typeface="IBM Plex Sans" pitchFamily="34" charset="-120"/>
              </a:rPr>
              <a:t>The failover state lives in a </a:t>
            </a:r>
            <a:r>
              <a:rPr lang="en-US" sz="1400" dirty="0">
                <a:solidFill>
                  <a:srgbClr val="F0954F"/>
                </a:solidFill>
                <a:latin typeface="IBM Plex Sans" pitchFamily="34" charset="0"/>
                <a:ea typeface="IBM Plex Sans" pitchFamily="34" charset="-122"/>
                <a:cs typeface="IBM Plex Sans" pitchFamily="34" charset="-120"/>
              </a:rPr>
              <a:t>FailoverStateStore</a:t>
            </a:r>
            <a:r>
              <a:rPr lang="en-US" sz="1400" dirty="0">
                <a:solidFill>
                  <a:srgbClr val="B8C4D6"/>
                </a:solidFill>
                <a:latin typeface="IBM Plex Sans" pitchFamily="34" charset="0"/>
                <a:ea typeface="IBM Plex Sans" pitchFamily="34" charset="-122"/>
                <a:cs typeface="IBM Plex Sans" pitchFamily="34" charset="-120"/>
              </a:rPr>
              <a:t> (in-memory or Redis), so the failback-after window survives an application restart.</a:t>
            </a:r>
            <a:endParaRPr lang="en-US" sz="1400" dirty="0"/>
          </a:p>
        </p:txBody>
      </p:sp>
      <p:sp>
        <p:nvSpPr>
          <p:cNvPr id="25" name="Text 23"/>
          <p:cNvSpPr/>
          <p:nvPr/>
        </p:nvSpPr>
        <p:spPr>
          <a:xfrm>
            <a:off x="812800" y="6238280"/>
            <a:ext cx="13562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0B8"/>
                </a:solidFill>
                <a:latin typeface="IBM Plex Sans" pitchFamily="34" charset="0"/>
                <a:ea typeface="IBM Plex Sans" pitchFamily="34" charset="-122"/>
                <a:cs typeface="IBM Plex Sans" pitchFamily="34" charset="-120"/>
              </a:rPr>
              <a:t>Kafka DR Starter</a:t>
            </a:r>
            <a:endParaRPr lang="en-US" sz="1200" dirty="0"/>
          </a:p>
        </p:txBody>
      </p:sp>
      <p:sp>
        <p:nvSpPr>
          <p:cNvPr id="26" name="Text 24"/>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0B8"/>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61B"/>
                </a:solidFill>
                <a:latin typeface="JetBrains Mono" pitchFamily="49" charset="0"/>
                <a:ea typeface="JetBrains Mono" pitchFamily="49" charset="-122"/>
                <a:cs typeface="JetBrains Mono" pitchFamily="49" charset="-120"/>
              </a:rPr>
              <a:t>DATA INTEGRITY</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A2433"/>
                </a:solidFill>
                <a:latin typeface="IBM Plex Sans" pitchFamily="34" charset="0"/>
                <a:ea typeface="IBM Plex Sans" pitchFamily="34" charset="-122"/>
                <a:cs typeface="IBM Plex Sans" pitchFamily="34" charset="-120"/>
              </a:rPr>
              <a:t>No gaps and no duplicates after the switch</a:t>
            </a:r>
            <a:endParaRPr lang="en-US" sz="3600" dirty="0"/>
          </a:p>
        </p:txBody>
      </p:sp>
      <p:sp>
        <p:nvSpPr>
          <p:cNvPr id="4" name="Shape 2"/>
          <p:cNvSpPr/>
          <p:nvPr/>
        </p:nvSpPr>
        <p:spPr>
          <a:xfrm>
            <a:off x="815975" y="1989386"/>
            <a:ext cx="3380284" cy="2541091"/>
          </a:xfrm>
          <a:prstGeom prst="roundRect">
            <a:avLst>
              <a:gd name="adj" fmla="val 3873"/>
            </a:avLst>
          </a:prstGeom>
          <a:solidFill>
            <a:srgbClr val="FCFBF8"/>
          </a:solidFill>
          <a:ln w="6350">
            <a:solidFill>
              <a:srgbClr val="E2DED5"/>
            </a:solidFill>
            <a:prstDash val="solid"/>
          </a:ln>
        </p:spPr>
      </p:sp>
      <p:pic>
        <p:nvPicPr>
          <p:cNvPr id="5" name="Image 0" descr="Search">    </p:cNvPr>
          <p:cNvPicPr>
            <a:picLocks noChangeAspect="1"/>
          </p:cNvPicPr>
          <p:nvPr/>
        </p:nvPicPr>
        <p:blipFill>
          <a:blip r:embed="rId1"/>
          <a:srcRect l="0" r="0" t="0" b="0"/>
          <a:stretch/>
        </p:blipFill>
        <p:spPr>
          <a:xfrm>
            <a:off x="1073150" y="2246561"/>
            <a:ext cx="304800" cy="304800"/>
          </a:xfrm>
          <a:prstGeom prst="rect">
            <a:avLst/>
          </a:prstGeom>
        </p:spPr>
      </p:pic>
      <p:sp>
        <p:nvSpPr>
          <p:cNvPr id="6" name="Text 3"/>
          <p:cNvSpPr/>
          <p:nvPr/>
        </p:nvSpPr>
        <p:spPr>
          <a:xfrm>
            <a:off x="1073150" y="2652961"/>
            <a:ext cx="295191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2433"/>
                </a:solidFill>
                <a:latin typeface="IBM Plex Sans" pitchFamily="34" charset="0"/>
                <a:ea typeface="IBM Plex Sans" pitchFamily="34" charset="-122"/>
                <a:cs typeface="IBM Plex Sans" pitchFamily="34" charset="-120"/>
              </a:rPr>
              <a:t>Seek by time</a:t>
            </a:r>
            <a:endParaRPr lang="en-US" sz="1800" dirty="0"/>
          </a:p>
        </p:txBody>
      </p:sp>
      <p:sp>
        <p:nvSpPr>
          <p:cNvPr id="7" name="Text 4"/>
          <p:cNvSpPr/>
          <p:nvPr/>
        </p:nvSpPr>
        <p:spPr>
          <a:xfrm>
            <a:off x="1073150" y="3028851"/>
            <a:ext cx="2951912"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On the new cluster reading starts at the timestamp of the last processed record — each consumer has its own.</a:t>
            </a:r>
            <a:endParaRPr lang="en-US" sz="1400" dirty="0"/>
          </a:p>
        </p:txBody>
      </p:sp>
      <p:sp>
        <p:nvSpPr>
          <p:cNvPr id="8" name="Shape 5"/>
          <p:cNvSpPr/>
          <p:nvPr/>
        </p:nvSpPr>
        <p:spPr>
          <a:xfrm>
            <a:off x="4405809" y="1989386"/>
            <a:ext cx="3380333" cy="2541091"/>
          </a:xfrm>
          <a:prstGeom prst="roundRect">
            <a:avLst>
              <a:gd name="adj" fmla="val 3873"/>
            </a:avLst>
          </a:prstGeom>
          <a:solidFill>
            <a:srgbClr val="FCFBF8"/>
          </a:solidFill>
          <a:ln w="6350">
            <a:solidFill>
              <a:srgbClr val="E2DED5"/>
            </a:solidFill>
            <a:prstDash val="solid"/>
          </a:ln>
        </p:spPr>
      </p:sp>
      <p:pic>
        <p:nvPicPr>
          <p:cNvPr id="9" name="Image 1" descr="Key">    </p:cNvPr>
          <p:cNvPicPr>
            <a:picLocks noChangeAspect="1"/>
          </p:cNvPicPr>
          <p:nvPr/>
        </p:nvPicPr>
        <p:blipFill>
          <a:blip r:embed="rId2"/>
          <a:srcRect l="0" r="0" t="0" b="0"/>
          <a:stretch/>
        </p:blipFill>
        <p:spPr>
          <a:xfrm>
            <a:off x="4662984" y="2246561"/>
            <a:ext cx="304800" cy="304800"/>
          </a:xfrm>
          <a:prstGeom prst="rect">
            <a:avLst/>
          </a:prstGeom>
        </p:spPr>
      </p:pic>
      <p:sp>
        <p:nvSpPr>
          <p:cNvPr id="10" name="Text 6"/>
          <p:cNvSpPr/>
          <p:nvPr/>
        </p:nvSpPr>
        <p:spPr>
          <a:xfrm>
            <a:off x="4662984" y="2652961"/>
            <a:ext cx="295196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2433"/>
                </a:solidFill>
                <a:latin typeface="IBM Plex Sans" pitchFamily="34" charset="0"/>
                <a:ea typeface="IBM Plex Sans" pitchFamily="34" charset="-122"/>
                <a:cs typeface="IBM Plex Sans" pitchFamily="34" charset="-120"/>
              </a:rPr>
              <a:t>Idempotency</a:t>
            </a:r>
            <a:endParaRPr lang="en-US" sz="1800" dirty="0"/>
          </a:p>
        </p:txBody>
      </p:sp>
      <p:sp>
        <p:nvSpPr>
          <p:cNvPr id="11" name="Text 7"/>
          <p:cNvSpPr/>
          <p:nvPr/>
        </p:nvSpPr>
        <p:spPr>
          <a:xfrm>
            <a:off x="4662984" y="3028851"/>
            <a:ext cx="2951963"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Records at the switch boundary are dropped by key in an IdempotencyStore: in-memory or your own, Redis for one.</a:t>
            </a:r>
            <a:endParaRPr lang="en-US" sz="1400" dirty="0"/>
          </a:p>
        </p:txBody>
      </p:sp>
      <p:sp>
        <p:nvSpPr>
          <p:cNvPr id="12" name="Shape 8"/>
          <p:cNvSpPr/>
          <p:nvPr/>
        </p:nvSpPr>
        <p:spPr>
          <a:xfrm>
            <a:off x="7995692" y="1989386"/>
            <a:ext cx="3380333" cy="2541091"/>
          </a:xfrm>
          <a:prstGeom prst="roundRect">
            <a:avLst>
              <a:gd name="adj" fmla="val 3873"/>
            </a:avLst>
          </a:prstGeom>
          <a:solidFill>
            <a:srgbClr val="FCFBF8"/>
          </a:solidFill>
          <a:ln w="6350">
            <a:solidFill>
              <a:srgbClr val="E2DED5"/>
            </a:solidFill>
            <a:prstDash val="solid"/>
          </a:ln>
        </p:spPr>
      </p:sp>
      <p:pic>
        <p:nvPicPr>
          <p:cNvPr id="13" name="Image 2" descr="Lock">    </p:cNvPr>
          <p:cNvPicPr>
            <a:picLocks noChangeAspect="1"/>
          </p:cNvPicPr>
          <p:nvPr/>
        </p:nvPicPr>
        <p:blipFill>
          <a:blip r:embed="rId3"/>
          <a:srcRect l="0" r="0" t="0" b="0"/>
          <a:stretch/>
        </p:blipFill>
        <p:spPr>
          <a:xfrm>
            <a:off x="8252867" y="2246561"/>
            <a:ext cx="304800" cy="304800"/>
          </a:xfrm>
          <a:prstGeom prst="rect">
            <a:avLst/>
          </a:prstGeom>
        </p:spPr>
      </p:pic>
      <p:sp>
        <p:nvSpPr>
          <p:cNvPr id="14" name="Text 9"/>
          <p:cNvSpPr/>
          <p:nvPr/>
        </p:nvSpPr>
        <p:spPr>
          <a:xfrm>
            <a:off x="8252867" y="2652961"/>
            <a:ext cx="295196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2433"/>
                </a:solidFill>
                <a:latin typeface="IBM Plex Sans" pitchFamily="34" charset="0"/>
                <a:ea typeface="IBM Plex Sans" pitchFamily="34" charset="-122"/>
                <a:cs typeface="IBM Plex Sans" pitchFamily="34" charset="-120"/>
              </a:rPr>
              <a:t>Watermark after commit</a:t>
            </a:r>
            <a:endParaRPr lang="en-US" sz="1800" dirty="0"/>
          </a:p>
        </p:txBody>
      </p:sp>
      <p:sp>
        <p:nvSpPr>
          <p:cNvPr id="15" name="Text 10"/>
          <p:cNvSpPr/>
          <p:nvPr/>
        </p:nvSpPr>
        <p:spPr>
          <a:xfrm>
            <a:off x="8252867" y="3028851"/>
            <a:ext cx="2951963" cy="126985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 watermark moves only once the offset is committed. With ack.owner: starter the starter commits — handlers need no acknowledgment code.</a:t>
            </a:r>
            <a:endParaRPr lang="en-US" sz="1400" dirty="0"/>
          </a:p>
        </p:txBody>
      </p:sp>
      <p:sp>
        <p:nvSpPr>
          <p:cNvPr id="16" name="Text 11"/>
          <p:cNvSpPr/>
          <p:nvPr/>
        </p:nvSpPr>
        <p:spPr>
          <a:xfrm>
            <a:off x="812800" y="6238280"/>
            <a:ext cx="13562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Kafka DR Starter</a:t>
            </a:r>
            <a:endParaRPr lang="en-US" sz="1200" dirty="0"/>
          </a:p>
        </p:txBody>
      </p:sp>
      <p:sp>
        <p:nvSpPr>
          <p:cNvPr id="17" name="Text 12"/>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61B"/>
                </a:solidFill>
                <a:latin typeface="JetBrains Mono" pitchFamily="49" charset="0"/>
                <a:ea typeface="JetBrains Mono" pitchFamily="49" charset="-122"/>
                <a:cs typeface="JetBrains Mono" pitchFamily="49" charset="-120"/>
              </a:rPr>
              <a:t>PRODUCER</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A2433"/>
                </a:solidFill>
                <a:latin typeface="IBM Plex Sans" pitchFamily="34" charset="0"/>
                <a:ea typeface="IBM Plex Sans" pitchFamily="34" charset="-122"/>
                <a:cs typeface="IBM Plex Sans" pitchFamily="34" charset="-120"/>
              </a:rPr>
              <a:t>A verdict only on proof</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11"/>
          <a:ext cx="10553700" cy="2290713"/>
        </p:xfrm>
        <a:graphic>
          <a:graphicData uri="http://schemas.openxmlformats.org/drawingml/2006/table">
            <a:tbl>
              <a:tblPr/>
              <a:tblGrid>
                <a:gridCol w="4432554"/>
                <a:gridCol w="2321814"/>
                <a:gridCol w="3799332"/>
              </a:tblGrid>
              <a:tr h="386011">
                <a:tc>
                  <a:txBody>
                    <a:bodyPr/>
                    <a:lstStyle/>
                    <a:p>
                      <a:pPr indent="0" marL="0">
                        <a:lnSpc>
                          <a:spcPts val="1960"/>
                        </a:lnSpc>
                        <a:buNone/>
                      </a:pPr>
                      <a:r>
                        <a:rPr lang="en-US" sz="1400" b="1" dirty="0">
                          <a:solidFill>
                            <a:srgbClr val="1A2433"/>
                          </a:solidFill>
                          <a:latin typeface="IBM Plex Sans" pitchFamily="34" charset="0"/>
                          <a:ea typeface="IBM Plex Sans" pitchFamily="34" charset="-122"/>
                          <a:cs typeface="IBM Plex Sans" pitchFamily="34" charset="-120"/>
                        </a:rPr>
                        <a:t>The attempt ended with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AB7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AB7B0"/>
                      </a:solidFill>
                      <a:prstDash val="solid"/>
                      <a:round/>
                      <a:headEnd type="none" w="med" len="med"/>
                      <a:tailEnd type="none" w="med" len="med"/>
                    </a:lnB>
                    <a:solidFill>
                      <a:srgbClr val="E9E5DC"/>
                    </a:solidFill>
                  </a:tcPr>
                </a:tc>
                <a:tc>
                  <a:txBody>
                    <a:bodyPr/>
                    <a:lstStyle/>
                    <a:p>
                      <a:pPr indent="0" marL="0">
                        <a:lnSpc>
                          <a:spcPts val="1960"/>
                        </a:lnSpc>
                        <a:buNone/>
                      </a:pPr>
                      <a:r>
                        <a:rPr lang="en-US" sz="1400" b="1" dirty="0">
                          <a:solidFill>
                            <a:srgbClr val="1A2433"/>
                          </a:solidFill>
                          <a:latin typeface="IBM Plex Sans" pitchFamily="34" charset="0"/>
                          <a:ea typeface="IBM Plex Sans" pitchFamily="34" charset="-122"/>
                          <a:cs typeface="IBM Plex Sans" pitchFamily="34" charset="-120"/>
                        </a:rPr>
                        <a:t>Proof of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B7B0"/>
                      </a:solidFill>
                      <a:prstDash val="solid"/>
                      <a:round/>
                      <a:headEnd type="none" w="med" len="med"/>
                      <a:tailEnd type="none" w="med" len="med"/>
                    </a:lnL>
                    <a:lnR w="12700" cap="flat" cmpd="sng" algn="ctr">
                      <a:solidFill>
                        <a:srgbClr val="BAB7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AB7B0"/>
                      </a:solidFill>
                      <a:prstDash val="solid"/>
                      <a:round/>
                      <a:headEnd type="none" w="med" len="med"/>
                      <a:tailEnd type="none" w="med" len="med"/>
                    </a:lnB>
                    <a:solidFill>
                      <a:srgbClr val="E9E5DC"/>
                    </a:solidFill>
                  </a:tcPr>
                </a:tc>
                <a:tc>
                  <a:txBody>
                    <a:bodyPr/>
                    <a:lstStyle/>
                    <a:p>
                      <a:pPr indent="0" marL="0">
                        <a:lnSpc>
                          <a:spcPts val="1960"/>
                        </a:lnSpc>
                        <a:buNone/>
                      </a:pPr>
                      <a:r>
                        <a:rPr lang="en-US" sz="1400" b="1" dirty="0">
                          <a:solidFill>
                            <a:srgbClr val="1A2433"/>
                          </a:solidFill>
                          <a:latin typeface="IBM Plex Sans" pitchFamily="34" charset="0"/>
                          <a:ea typeface="IBM Plex Sans" pitchFamily="34" charset="-122"/>
                          <a:cs typeface="IBM Plex Sans" pitchFamily="34" charset="-120"/>
                        </a:rPr>
                        <a:t>Then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B7B0"/>
                      </a:solidFill>
                      <a:prstDash val="solid"/>
                      <a:round/>
                      <a:headEnd type="none" w="med" len="med"/>
                      <a:tailEnd type="none" w="med" len="med"/>
                    </a:lnL>
                    <a:lnR w="12700" cap="flat" cmpd="sng" algn="ctr">
                      <a:solidFill>
                        <a:srgbClr val="BAB7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AB7B0"/>
                      </a:solidFill>
                      <a:prstDash val="solid"/>
                      <a:round/>
                      <a:headEnd type="none" w="med" len="med"/>
                      <a:tailEnd type="none" w="med" len="med"/>
                    </a:lnB>
                    <a:solidFill>
                      <a:srgbClr val="E9E5DC"/>
                    </a:solidFill>
                  </a:tcPr>
                </a:tc>
              </a:tr>
              <a:tr h="634901">
                <a:tc>
                  <a:txBody>
                    <a:bodyPr/>
                    <a:lstStyle/>
                    <a:p>
                      <a:pPr indent="0" marL="0">
                        <a:lnSpc>
                          <a:spcPts val="1960"/>
                        </a:lnSpc>
                        <a:buNone/>
                      </a:pPr>
                      <a:r>
                        <a:rPr lang="en-US" sz="1400" dirty="0">
                          <a:solidFill>
                            <a:srgbClr val="1A2433"/>
                          </a:solidFill>
                          <a:latin typeface="IBM Plex Sans" pitchFamily="34" charset="0"/>
                          <a:ea typeface="IBM Plex Sans" pitchFamily="34" charset="-122"/>
                          <a:cs typeface="IBM Plex Sans" pitchFamily="34" charset="-120"/>
                        </a:rPr>
                        <a:t>Not serializable; record too large or invalid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AB7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433"/>
                          </a:solidFill>
                          <a:latin typeface="IBM Plex Sans" pitchFamily="34" charset="0"/>
                          <a:ea typeface="IBM Plex Sans" pitchFamily="34" charset="-122"/>
                          <a:cs typeface="IBM Plex Sans" pitchFamily="34" charset="-120"/>
                        </a:rPr>
                        <a:t>the message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AB7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433"/>
                          </a:solidFill>
                          <a:latin typeface="IBM Plex Sans" pitchFamily="34" charset="0"/>
                          <a:ea typeface="IBM Plex Sans" pitchFamily="34" charset="-122"/>
                          <a:cs typeface="IBM Plex Sans" pitchFamily="34" charset="-120"/>
                        </a:rPr>
                        <a:t>SERIALIZATION / REJECTED, no retries; the cluster is fine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AB7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634901">
                <a:tc>
                  <a:txBody>
                    <a:bodyPr/>
                    <a:lstStyle/>
                    <a:p>
                      <a:pPr indent="0" marL="0">
                        <a:lnSpc>
                          <a:spcPts val="1960"/>
                        </a:lnSpc>
                        <a:buNone/>
                      </a:pPr>
                      <a:r>
                        <a:rPr lang="en-US" sz="1400" dirty="0">
                          <a:solidFill>
                            <a:srgbClr val="1A2433"/>
                          </a:solidFill>
                          <a:latin typeface="IBM Plex Sans" pitchFamily="34" charset="0"/>
                          <a:ea typeface="IBM Plex Sans" pitchFamily="34" charset="-122"/>
                          <a:cs typeface="IBM Plex Sans" pitchFamily="34" charset="-120"/>
                        </a:rPr>
                        <a:t>Cluster unreachable; a retriable error outlasted the retries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A2433"/>
                          </a:solidFill>
                          <a:latin typeface="IBM Plex Sans" pitchFamily="34" charset="0"/>
                          <a:ea typeface="IBM Plex Sans" pitchFamily="34" charset="-122"/>
                          <a:cs typeface="IBM Plex Sans" pitchFamily="34" charset="-120"/>
                        </a:rPr>
                        <a:t>a broken cluster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A2433"/>
                          </a:solidFill>
                          <a:latin typeface="IBM Plex Sans" pitchFamily="34" charset="0"/>
                          <a:ea typeface="IBM Plex Sans" pitchFamily="34" charset="-122"/>
                          <a:cs typeface="IBM Plex Sans" pitchFamily="34" charset="-120"/>
                        </a:rPr>
                        <a:t>Failover of the whole group — consumers move with 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634901">
                <a:tc>
                  <a:txBody>
                    <a:bodyPr/>
                    <a:lstStyle/>
                    <a:p>
                      <a:pPr indent="0" marL="0">
                        <a:lnSpc>
                          <a:spcPts val="1960"/>
                        </a:lnSpc>
                        <a:buNone/>
                      </a:pPr>
                      <a:r>
                        <a:rPr lang="en-US" sz="1400" dirty="0">
                          <a:solidFill>
                            <a:srgbClr val="1A2433"/>
                          </a:solidFill>
                          <a:latin typeface="IBM Plex Sans" pitchFamily="34" charset="0"/>
                          <a:ea typeface="IBM Plex Sans" pitchFamily="34" charset="-122"/>
                          <a:cs typeface="IBM Plex Sans" pitchFamily="34" charset="-120"/>
                        </a:rPr>
                        <a:t>Missing ACL, missing topic, Schema Registry failure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433"/>
                          </a:solidFill>
                          <a:latin typeface="IBM Plex Sans" pitchFamily="34" charset="0"/>
                          <a:ea typeface="IBM Plex Sans" pitchFamily="34" charset="-122"/>
                          <a:cs typeface="IBM Plex Sans" pitchFamily="34" charset="-120"/>
                        </a:rPr>
                        <a:t>nothing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433"/>
                          </a:solidFill>
                          <a:latin typeface="IBM Plex Sans" pitchFamily="34" charset="0"/>
                          <a:ea typeface="IBM Plex Sans" pitchFamily="34" charset="-122"/>
                          <a:cs typeface="IBM Plex Sans" pitchFamily="34" charset="-120"/>
                        </a:rPr>
                        <a:t>ALL_CLUSTERS_FAILED — a bridge holds the record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4543623"/>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We write </a:t>
            </a:r>
            <a:r>
              <a:rPr lang="en-US" sz="1500" b="1" dirty="0">
                <a:solidFill>
                  <a:srgbClr val="1A2433"/>
                </a:solidFill>
                <a:latin typeface="IBM Plex Sans" pitchFamily="34" charset="0"/>
                <a:ea typeface="IBM Plex Sans" pitchFamily="34" charset="-122"/>
                <a:cs typeface="IBM Plex Sans" pitchFamily="34" charset="-120"/>
              </a:rPr>
              <a:t>to the active cluster only</a:t>
            </a:r>
            <a:r>
              <a:rPr lang="en-US" sz="1500" dirty="0">
                <a:solidFill>
                  <a:srgbClr val="4A5568"/>
                </a:solidFill>
                <a:latin typeface="IBM Plex Sans" pitchFamily="34" charset="0"/>
                <a:ea typeface="IBM Plex Sans" pitchFamily="34" charset="-122"/>
                <a:cs typeface="IBM Plex Sans" pitchFamily="34" charset="-120"/>
              </a:rPr>
              <a:t> — where the consumers read. A record on the standby would sit unread: MirrorMaker copies one way.</a:t>
            </a:r>
            <a:endParaRPr lang="en-US" sz="1500" dirty="0"/>
          </a:p>
        </p:txBody>
      </p:sp>
      <p:sp>
        <p:nvSpPr>
          <p:cNvPr id="6" name="Text 3"/>
          <p:cNvSpPr/>
          <p:nvPr/>
        </p:nvSpPr>
        <p:spPr>
          <a:xfrm>
            <a:off x="812800" y="6238280"/>
            <a:ext cx="13562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Kafka DR Starter</a:t>
            </a:r>
            <a:endParaRPr lang="en-US" sz="1200" dirty="0"/>
          </a:p>
        </p:txBody>
      </p:sp>
      <p:sp>
        <p:nvSpPr>
          <p:cNvPr id="7" name="Text 4"/>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0954F"/>
                </a:solidFill>
                <a:latin typeface="JetBrains Mono" pitchFamily="49" charset="0"/>
                <a:ea typeface="JetBrains Mono" pitchFamily="49" charset="-122"/>
                <a:cs typeface="JetBrains Mono" pitchFamily="49" charset="-120"/>
              </a:rPr>
              <a:t>CLUSTER GROUPS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3EE"/>
                </a:solidFill>
                <a:latin typeface="IBM Plex Sans" pitchFamily="34" charset="0"/>
                <a:ea typeface="IBM Plex Sans" pitchFamily="34" charset="-122"/>
                <a:cs typeface="IBM Plex Sans" pitchFamily="34" charset="-120"/>
              </a:rPr>
              <a:t>Several independent Kafkas in one application</a:t>
            </a:r>
            <a:endParaRPr lang="en-US" sz="3600" dirty="0"/>
          </a:p>
        </p:txBody>
      </p:sp>
      <p:sp>
        <p:nvSpPr>
          <p:cNvPr id="4" name="Text 2"/>
          <p:cNvSpPr/>
          <p:nvPr/>
        </p:nvSpPr>
        <p:spPr>
          <a:xfrm>
            <a:off x="815975" y="1938586"/>
            <a:ext cx="4819650" cy="2940050"/>
          </a:xfrm>
          <a:prstGeom prst="roundRect">
            <a:avLst>
              <a:gd name="adj" fmla="val 3348"/>
            </a:avLst>
          </a:prstGeom>
          <a:solidFill>
            <a:srgbClr val="17263D"/>
          </a:solidFill>
          <a:ln w="6350">
            <a:solidFill>
              <a:srgbClr val="2A3B57"/>
            </a:solidFill>
            <a:prstDash val="solid"/>
          </a:ln>
        </p:spPr>
        <p:txBody>
          <a:bodyPr wrap="square" lIns="228347" tIns="202947" rIns="99188" bIns="177547" rtlCol="0" anchor="t">
            <a:normAutofit/>
          </a:bodyPr>
          <a:lstStyle/>
          <a:p>
            <a:pPr algn="l" indent="0" marL="0">
              <a:lnSpc>
                <a:spcPts val="1950"/>
              </a:lnSpc>
              <a:buNone/>
            </a:pPr>
            <a:r>
              <a:rPr lang="en-US" sz="1300" dirty="0">
                <a:solidFill>
                  <a:srgbClr val="D6DEEA"/>
                </a:solidFill>
                <a:latin typeface="JetBrains Mono" pitchFamily="49" charset="0"/>
                <a:ea typeface="JetBrains Mono" pitchFamily="49" charset="-122"/>
                <a:cs typeface="JetBrains Mono" pitchFamily="49" charset="-120"/>
              </a:rPr>
              <a:t>kafka-dr:</a:t>
            </a:r>
            <a:endParaRPr lang="en-US" sz="1300" dirty="0"/>
          </a:p>
          <a:p>
            <a:pPr algn="l" indent="0" marL="0">
              <a:lnSpc>
                <a:spcPts val="1950"/>
              </a:lnSpc>
              <a:buNone/>
            </a:pPr>
            <a:r>
              <a:rPr lang="en-US" sz="1300" dirty="0">
                <a:solidFill>
                  <a:srgbClr val="D6DEEA"/>
                </a:solidFill>
                <a:latin typeface="JetBrains Mono" pitchFamily="49" charset="0"/>
                <a:ea typeface="JetBrains Mono" pitchFamily="49" charset="-122"/>
                <a:cs typeface="JetBrains Mono" pitchFamily="49" charset="-120"/>
              </a:rPr>
              <a:t>  cluster-groups:</a:t>
            </a:r>
            <a:endParaRPr lang="en-US" sz="1300" dirty="0"/>
          </a:p>
          <a:p>
            <a:pPr algn="l" indent="0" marL="0">
              <a:lnSpc>
                <a:spcPts val="1950"/>
              </a:lnSpc>
              <a:buNone/>
            </a:pPr>
            <a:r>
              <a:rPr lang="en-US" sz="1300" dirty="0">
                <a:solidFill>
                  <a:srgbClr val="D6DEEA"/>
                </a:solidFill>
                <a:latin typeface="JetBrains Mono" pitchFamily="49" charset="0"/>
                <a:ea typeface="JetBrains Mono" pitchFamily="49" charset="-122"/>
                <a:cs typeface="JetBrains Mono" pitchFamily="49" charset="-120"/>
              </a:rPr>
              <a:t>    </a:t>
            </a:r>
            <a:r>
              <a:rPr lang="en-US" sz="1300" dirty="0">
                <a:solidFill>
                  <a:srgbClr val="F0954F"/>
                </a:solidFill>
                <a:latin typeface="JetBrains Mono" pitchFamily="49" charset="0"/>
                <a:ea typeface="JetBrains Mono" pitchFamily="49" charset="-122"/>
                <a:cs typeface="JetBrains Mono" pitchFamily="49" charset="-120"/>
              </a:rPr>
              <a:t>core</a:t>
            </a:r>
            <a:r>
              <a:rPr lang="en-US" sz="1300" dirty="0">
                <a:solidFill>
                  <a:srgbClr val="D6DEEA"/>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D6DEEA"/>
                </a:solidFill>
                <a:latin typeface="JetBrains Mono" pitchFamily="49" charset="0"/>
                <a:ea typeface="JetBrains Mono" pitchFamily="49" charset="-122"/>
                <a:cs typeface="JetBrains Mono" pitchFamily="49" charset="-120"/>
              </a:rPr>
              <a:t>      clusters: { a: …, b: … }</a:t>
            </a:r>
            <a:endParaRPr lang="en-US" sz="1300" dirty="0"/>
          </a:p>
          <a:p>
            <a:pPr algn="l" indent="0" marL="0">
              <a:lnSpc>
                <a:spcPts val="1950"/>
              </a:lnSpc>
              <a:buNone/>
            </a:pPr>
            <a:r>
              <a:rPr lang="en-US" sz="1300" dirty="0">
                <a:solidFill>
                  <a:srgbClr val="D6DEEA"/>
                </a:solidFill>
                <a:latin typeface="JetBrains Mono" pitchFamily="49" charset="0"/>
                <a:ea typeface="JetBrains Mono" pitchFamily="49" charset="-122"/>
                <a:cs typeface="JetBrains Mono" pitchFamily="49" charset="-120"/>
              </a:rPr>
              <a:t>    </a:t>
            </a:r>
            <a:r>
              <a:rPr lang="en-US" sz="1300" dirty="0">
                <a:solidFill>
                  <a:srgbClr val="F0954F"/>
                </a:solidFill>
                <a:latin typeface="JetBrains Mono" pitchFamily="49" charset="0"/>
                <a:ea typeface="JetBrains Mono" pitchFamily="49" charset="-122"/>
                <a:cs typeface="JetBrains Mono" pitchFamily="49" charset="-120"/>
              </a:rPr>
              <a:t>analytics</a:t>
            </a:r>
            <a:r>
              <a:rPr lang="en-US" sz="1300" dirty="0">
                <a:solidFill>
                  <a:srgbClr val="D6DEEA"/>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D6DEEA"/>
                </a:solidFill>
                <a:latin typeface="JetBrains Mono" pitchFamily="49" charset="0"/>
                <a:ea typeface="JetBrains Mono" pitchFamily="49" charset="-122"/>
                <a:cs typeface="JetBrains Mono" pitchFamily="49" charset="-120"/>
              </a:rPr>
              <a:t>      clusters: { a: …, b: … }</a:t>
            </a:r>
            <a:endParaRPr lang="en-US" sz="1300" dirty="0"/>
          </a:p>
          <a:p>
            <a:pPr algn="l" indent="0" marL="0">
              <a:lnSpc>
                <a:spcPts val="1950"/>
              </a:lnSpc>
              <a:buNone/>
            </a:pPr>
            <a:r>
              <a:rPr lang="en-US" sz="1300" dirty="0">
                <a:solidFill>
                  <a:srgbClr val="D6DEEA"/>
                </a:solidFill>
                <a:latin typeface="JetBrains Mono" pitchFamily="49" charset="0"/>
                <a:ea typeface="JetBrains Mono" pitchFamily="49" charset="-122"/>
                <a:cs typeface="JetBrains Mono" pitchFamily="49" charset="-120"/>
              </a:rPr>
              <a:t>  consumers:</a:t>
            </a:r>
            <a:endParaRPr lang="en-US" sz="1300" dirty="0"/>
          </a:p>
          <a:p>
            <a:pPr algn="l" indent="0" marL="0">
              <a:lnSpc>
                <a:spcPts val="1950"/>
              </a:lnSpc>
              <a:buNone/>
            </a:pPr>
            <a:r>
              <a:rPr lang="en-US" sz="1300" dirty="0">
                <a:solidFill>
                  <a:srgbClr val="D6DEEA"/>
                </a:solidFill>
                <a:latin typeface="JetBrains Mono" pitchFamily="49" charset="0"/>
                <a:ea typeface="JetBrains Mono" pitchFamily="49" charset="-122"/>
                <a:cs typeface="JetBrains Mono" pitchFamily="49" charset="-120"/>
              </a:rPr>
              <a:t>    orders-bridge:</a:t>
            </a:r>
            <a:endParaRPr lang="en-US" sz="1300" dirty="0"/>
          </a:p>
          <a:p>
            <a:pPr algn="l" indent="0" marL="0">
              <a:lnSpc>
                <a:spcPts val="1950"/>
              </a:lnSpc>
              <a:buNone/>
            </a:pPr>
            <a:r>
              <a:rPr lang="en-US" sz="1300" dirty="0">
                <a:solidFill>
                  <a:srgbClr val="D6DEEA"/>
                </a:solidFill>
                <a:latin typeface="JetBrains Mono" pitchFamily="49" charset="0"/>
                <a:ea typeface="JetBrains Mono" pitchFamily="49" charset="-122"/>
                <a:cs typeface="JetBrains Mono" pitchFamily="49" charset="-120"/>
              </a:rPr>
              <a:t>      cluster-group: core</a:t>
            </a:r>
            <a:endParaRPr lang="en-US" sz="1300" dirty="0"/>
          </a:p>
          <a:p>
            <a:pPr algn="l" indent="0" marL="0">
              <a:lnSpc>
                <a:spcPts val="1950"/>
              </a:lnSpc>
              <a:buNone/>
            </a:pPr>
            <a:r>
              <a:rPr lang="en-US" sz="1300" dirty="0">
                <a:solidFill>
                  <a:srgbClr val="D6DEEA"/>
                </a:solidFill>
                <a:latin typeface="JetBrains Mono" pitchFamily="49" charset="0"/>
                <a:ea typeface="JetBrains Mono" pitchFamily="49" charset="-122"/>
                <a:cs typeface="JetBrains Mono" pitchFamily="49" charset="-120"/>
              </a:rPr>
              <a:t>      depends-on: analytics</a:t>
            </a:r>
            <a:endParaRPr lang="en-US" sz="1300" dirty="0"/>
          </a:p>
        </p:txBody>
      </p:sp>
      <p:sp>
        <p:nvSpPr>
          <p:cNvPr id="5" name="Text 3"/>
          <p:cNvSpPr/>
          <p:nvPr/>
        </p:nvSpPr>
        <p:spPr>
          <a:xfrm>
            <a:off x="5943600" y="1935411"/>
            <a:ext cx="559866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3EE"/>
                </a:solidFill>
                <a:latin typeface="IBM Plex Sans" pitchFamily="34" charset="0"/>
                <a:ea typeface="IBM Plex Sans" pitchFamily="34" charset="-122"/>
                <a:cs typeface="IBM Plex Sans" pitchFamily="34" charset="-120"/>
              </a:rPr>
              <a:t>Each group lives on its own</a:t>
            </a:r>
            <a:endParaRPr lang="en-US" sz="1600" dirty="0"/>
          </a:p>
        </p:txBody>
      </p:sp>
      <p:sp>
        <p:nvSpPr>
          <p:cNvPr id="6" name="Text 4"/>
          <p:cNvSpPr/>
          <p:nvPr/>
        </p:nvSpPr>
        <p:spPr>
          <a:xfrm>
            <a:off x="5943600" y="2230041"/>
            <a:ext cx="5598668"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4D6"/>
                </a:solidFill>
                <a:latin typeface="IBM Plex Sans" pitchFamily="34" charset="0"/>
                <a:ea typeface="IBM Plex Sans" pitchFamily="34" charset="-122"/>
                <a:cs typeface="IBM Plex Sans" pitchFamily="34" charset="-120"/>
              </a:rPr>
              <a:t>Election, failover, failback-after, health check and environment — separately for core and analytics</a:t>
            </a:r>
            <a:endParaRPr lang="en-US" sz="1300" dirty="0"/>
          </a:p>
        </p:txBody>
      </p:sp>
      <p:sp>
        <p:nvSpPr>
          <p:cNvPr id="7" name="Text 5"/>
          <p:cNvSpPr/>
          <p:nvPr/>
        </p:nvSpPr>
        <p:spPr>
          <a:xfrm>
            <a:off x="5943600" y="2870101"/>
            <a:ext cx="559866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3EE"/>
                </a:solidFill>
                <a:latin typeface="IBM Plex Sans" pitchFamily="34" charset="0"/>
                <a:ea typeface="IBM Plex Sans" pitchFamily="34" charset="-122"/>
                <a:cs typeface="IBM Plex Sans" pitchFamily="34" charset="-120"/>
              </a:rPr>
              <a:t>Producers by name</a:t>
            </a:r>
            <a:endParaRPr lang="en-US" sz="1600" dirty="0"/>
          </a:p>
        </p:txBody>
      </p:sp>
      <p:sp>
        <p:nvSpPr>
          <p:cNvPr id="8" name="Text 6"/>
          <p:cNvSpPr/>
          <p:nvPr/>
        </p:nvSpPr>
        <p:spPr>
          <a:xfrm>
            <a:off x="5943600" y="3164731"/>
            <a:ext cx="5598668"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4D6"/>
                </a:solidFill>
                <a:latin typeface="IBM Plex Sans" pitchFamily="34" charset="0"/>
                <a:ea typeface="IBM Plex Sans" pitchFamily="34" charset="-122"/>
                <a:cs typeface="IBM Plex Sans" pitchFamily="34" charset="-120"/>
              </a:rPr>
              <a:t>producer.to("order-analytics").send(…).orThrow() — the name hides which Kafka holds the topic</a:t>
            </a:r>
            <a:endParaRPr lang="en-US" sz="1300" dirty="0"/>
          </a:p>
        </p:txBody>
      </p:sp>
      <p:sp>
        <p:nvSpPr>
          <p:cNvPr id="9" name="Text 7"/>
          <p:cNvSpPr/>
          <p:nvPr/>
        </p:nvSpPr>
        <p:spPr>
          <a:xfrm>
            <a:off x="5943600" y="3804791"/>
            <a:ext cx="559866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3EE"/>
                </a:solidFill>
                <a:latin typeface="IBM Plex Sans" pitchFamily="34" charset="0"/>
                <a:ea typeface="IBM Plex Sans" pitchFamily="34" charset="-122"/>
                <a:cs typeface="IBM Plex Sans" pitchFamily="34" charset="-120"/>
              </a:rPr>
              <a:t>The old form still works</a:t>
            </a:r>
            <a:endParaRPr lang="en-US" sz="1600" dirty="0"/>
          </a:p>
        </p:txBody>
      </p:sp>
      <p:sp>
        <p:nvSpPr>
          <p:cNvPr id="10" name="Text 8"/>
          <p:cNvSpPr/>
          <p:nvPr/>
        </p:nvSpPr>
        <p:spPr>
          <a:xfrm>
            <a:off x="5943600" y="4099421"/>
            <a:ext cx="5598668"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4D6"/>
                </a:solidFill>
                <a:latin typeface="IBM Plex Sans" pitchFamily="34" charset="0"/>
                <a:ea typeface="IBM Plex Sans" pitchFamily="34" charset="-122"/>
                <a:cs typeface="IBM Plex Sans" pitchFamily="34" charset="-120"/>
              </a:rPr>
              <a:t>kafka-dr.clusters is the group default, with the same binder names and keys as before</a:t>
            </a:r>
            <a:endParaRPr lang="en-US" sz="1300" dirty="0"/>
          </a:p>
        </p:txBody>
      </p:sp>
      <p:sp>
        <p:nvSpPr>
          <p:cNvPr id="11" name="Text 9"/>
          <p:cNvSpPr/>
          <p:nvPr/>
        </p:nvSpPr>
        <p:spPr>
          <a:xfrm>
            <a:off x="812800" y="6238280"/>
            <a:ext cx="13562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0B8"/>
                </a:solidFill>
                <a:latin typeface="IBM Plex Sans" pitchFamily="34" charset="0"/>
                <a:ea typeface="IBM Plex Sans" pitchFamily="34" charset="-122"/>
                <a:cs typeface="IBM Plex Sans" pitchFamily="34" charset="-120"/>
              </a:rPr>
              <a:t>Kafka DR Starter</a:t>
            </a:r>
            <a:endParaRPr lang="en-US" sz="1200" dirty="0"/>
          </a:p>
        </p:txBody>
      </p:sp>
      <p:sp>
        <p:nvSpPr>
          <p:cNvPr id="12" name="Text 10"/>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0B8"/>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61B"/>
                </a:solidFill>
                <a:latin typeface="JetBrains Mono" pitchFamily="49" charset="0"/>
                <a:ea typeface="JetBrains Mono" pitchFamily="49" charset="-122"/>
                <a:cs typeface="JetBrains Mono" pitchFamily="49" charset="-120"/>
              </a:rPr>
              <a:t>BRIDGES BETWEEN KAFKAS · DEPENDS-ON</a:t>
            </a:r>
            <a:endParaRPr lang="en-US" sz="1200" dirty="0"/>
          </a:p>
        </p:txBody>
      </p:sp>
      <p:sp>
        <p:nvSpPr>
          <p:cNvPr id="3" name="Text 1"/>
          <p:cNvSpPr/>
          <p:nvPr>
            <p:ph type="title"/>
          </p:nvPr>
        </p:nvSpPr>
        <p:spPr>
          <a:xfrm>
            <a:off x="812800" y="1127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A2433"/>
                </a:solidFill>
                <a:latin typeface="IBM Plex Sans" pitchFamily="34" charset="0"/>
                <a:ea typeface="IBM Plex Sans" pitchFamily="34" charset="-122"/>
                <a:cs typeface="IBM Plex Sans" pitchFamily="34" charset="-120"/>
              </a:rPr>
              <a:t>While the target Kafka is down, records wait instead of being lost</a:t>
            </a:r>
            <a:endParaRPr lang="en-US" sz="3600" dirty="0"/>
          </a:p>
        </p:txBody>
      </p:sp>
      <p:sp>
        <p:nvSpPr>
          <p:cNvPr id="4" name="Shape 2"/>
          <p:cNvSpPr/>
          <p:nvPr/>
        </p:nvSpPr>
        <p:spPr>
          <a:xfrm>
            <a:off x="815975" y="2416076"/>
            <a:ext cx="3380284" cy="1499741"/>
          </a:xfrm>
          <a:prstGeom prst="roundRect">
            <a:avLst>
              <a:gd name="adj" fmla="val 6563"/>
            </a:avLst>
          </a:prstGeom>
          <a:solidFill>
            <a:srgbClr val="FCFBF8"/>
          </a:solidFill>
          <a:ln w="6350">
            <a:solidFill>
              <a:srgbClr val="E2DED5"/>
            </a:solidFill>
            <a:prstDash val="solid"/>
          </a:ln>
        </p:spPr>
      </p:sp>
      <p:sp>
        <p:nvSpPr>
          <p:cNvPr id="5" name="Text 3"/>
          <p:cNvSpPr/>
          <p:nvPr/>
        </p:nvSpPr>
        <p:spPr>
          <a:xfrm>
            <a:off x="1047750" y="2647851"/>
            <a:ext cx="30042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B3"/>
                </a:solidFill>
                <a:latin typeface="JetBrains Mono" pitchFamily="49" charset="0"/>
                <a:ea typeface="JetBrains Mono" pitchFamily="49" charset="-122"/>
                <a:cs typeface="JetBrains Mono" pitchFamily="49" charset="-120"/>
              </a:rPr>
              <a:t>1 · Pause</a:t>
            </a:r>
            <a:endParaRPr lang="en-US" sz="1200" dirty="0"/>
          </a:p>
        </p:txBody>
      </p:sp>
      <p:sp>
        <p:nvSpPr>
          <p:cNvPr id="6" name="Text 4"/>
          <p:cNvSpPr/>
          <p:nvPr/>
        </p:nvSpPr>
        <p:spPr>
          <a:xfrm>
            <a:off x="1047750" y="2937371"/>
            <a:ext cx="3004236"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 consumer's binding is paused while the dependency group has no healthy cluster. No rebalance.</a:t>
            </a:r>
            <a:endParaRPr lang="en-US" sz="1400" dirty="0"/>
          </a:p>
        </p:txBody>
      </p:sp>
      <p:sp>
        <p:nvSpPr>
          <p:cNvPr id="7" name="Shape 5"/>
          <p:cNvSpPr/>
          <p:nvPr/>
        </p:nvSpPr>
        <p:spPr>
          <a:xfrm>
            <a:off x="4405809" y="2416076"/>
            <a:ext cx="3380333" cy="1499741"/>
          </a:xfrm>
          <a:prstGeom prst="roundRect">
            <a:avLst>
              <a:gd name="adj" fmla="val 6563"/>
            </a:avLst>
          </a:prstGeom>
          <a:solidFill>
            <a:srgbClr val="FCFBF8"/>
          </a:solidFill>
          <a:ln w="6350">
            <a:solidFill>
              <a:srgbClr val="E2DED5"/>
            </a:solidFill>
            <a:prstDash val="solid"/>
          </a:ln>
        </p:spPr>
      </p:sp>
      <p:sp>
        <p:nvSpPr>
          <p:cNvPr id="8" name="Text 6"/>
          <p:cNvSpPr/>
          <p:nvPr/>
        </p:nvSpPr>
        <p:spPr>
          <a:xfrm>
            <a:off x="4637584" y="2647851"/>
            <a:ext cx="300428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B3"/>
                </a:solidFill>
                <a:latin typeface="JetBrains Mono" pitchFamily="49" charset="0"/>
                <a:ea typeface="JetBrains Mono" pitchFamily="49" charset="-122"/>
                <a:cs typeface="JetBrains Mono" pitchFamily="49" charset="-120"/>
              </a:rPr>
              <a:t>2 · Gate</a:t>
            </a:r>
            <a:endParaRPr lang="en-US" sz="1200" dirty="0"/>
          </a:p>
        </p:txBody>
      </p:sp>
      <p:sp>
        <p:nvSpPr>
          <p:cNvPr id="9" name="Text 7"/>
          <p:cNvSpPr/>
          <p:nvPr/>
        </p:nvSpPr>
        <p:spPr>
          <a:xfrm>
            <a:off x="4637584" y="2937371"/>
            <a:ext cx="3004287"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Records already polled never reach the handler: a nack, redelivered after an interval. No retries spent.</a:t>
            </a:r>
            <a:endParaRPr lang="en-US" sz="1400" dirty="0"/>
          </a:p>
        </p:txBody>
      </p:sp>
      <p:sp>
        <p:nvSpPr>
          <p:cNvPr id="10" name="Shape 8"/>
          <p:cNvSpPr/>
          <p:nvPr/>
        </p:nvSpPr>
        <p:spPr>
          <a:xfrm>
            <a:off x="7995692" y="2416076"/>
            <a:ext cx="3380333" cy="1499741"/>
          </a:xfrm>
          <a:prstGeom prst="roundRect">
            <a:avLst>
              <a:gd name="adj" fmla="val 6563"/>
            </a:avLst>
          </a:prstGeom>
          <a:solidFill>
            <a:srgbClr val="FCFBF8"/>
          </a:solidFill>
          <a:ln w="6350">
            <a:solidFill>
              <a:srgbClr val="E2DED5"/>
            </a:solidFill>
            <a:prstDash val="solid"/>
          </a:ln>
        </p:spPr>
      </p:sp>
      <p:sp>
        <p:nvSpPr>
          <p:cNvPr id="11" name="Text 9"/>
          <p:cNvSpPr/>
          <p:nvPr/>
        </p:nvSpPr>
        <p:spPr>
          <a:xfrm>
            <a:off x="8227467" y="2647851"/>
            <a:ext cx="300428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B3"/>
                </a:solidFill>
                <a:latin typeface="JetBrains Mono" pitchFamily="49" charset="0"/>
                <a:ea typeface="JetBrains Mono" pitchFamily="49" charset="-122"/>
                <a:cs typeface="JetBrains Mono" pitchFamily="49" charset="-120"/>
              </a:rPr>
              <a:t>3 · Reclassify</a:t>
            </a:r>
            <a:endParaRPr lang="en-US" sz="1200" dirty="0"/>
          </a:p>
        </p:txBody>
      </p:sp>
      <p:sp>
        <p:nvSpPr>
          <p:cNvPr id="12" name="Text 10"/>
          <p:cNvSpPr/>
          <p:nvPr/>
        </p:nvSpPr>
        <p:spPr>
          <a:xfrm>
            <a:off x="8227467" y="2937371"/>
            <a:ext cx="3004287"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 failed send inside the handler becomes a nack, not an exception. The idempotency mark is released.</a:t>
            </a:r>
            <a:endParaRPr lang="en-US" sz="1400" dirty="0"/>
          </a:p>
        </p:txBody>
      </p:sp>
      <p:sp>
        <p:nvSpPr>
          <p:cNvPr id="13" name="Shape 11"/>
          <p:cNvSpPr/>
          <p:nvPr/>
        </p:nvSpPr>
        <p:spPr>
          <a:xfrm>
            <a:off x="812800" y="4198392"/>
            <a:ext cx="10566400" cy="904180"/>
          </a:xfrm>
          <a:prstGeom prst="roundRect">
            <a:avLst>
              <a:gd name="adj" fmla="val 11237"/>
            </a:avLst>
          </a:prstGeom>
          <a:solidFill>
            <a:srgbClr val="0F1B2D"/>
          </a:solidFill>
          <a:ln/>
        </p:spPr>
      </p:sp>
      <p:sp>
        <p:nvSpPr>
          <p:cNvPr id="14" name="Text 12"/>
          <p:cNvSpPr/>
          <p:nvPr/>
        </p:nvSpPr>
        <p:spPr>
          <a:xfrm>
            <a:off x="1066800" y="4526012"/>
            <a:ext cx="654447"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F0954F"/>
                </a:solidFill>
                <a:latin typeface="JetBrains Mono" pitchFamily="49" charset="0"/>
                <a:ea typeface="JetBrains Mono" pitchFamily="49" charset="-122"/>
                <a:cs typeface="JetBrains Mono" pitchFamily="49" charset="-120"/>
              </a:rPr>
              <a:t>max-hold</a:t>
            </a:r>
            <a:endParaRPr lang="en-US" sz="1400" dirty="0"/>
          </a:p>
        </p:txBody>
      </p:sp>
      <p:sp>
        <p:nvSpPr>
          <p:cNvPr id="15" name="Text 13"/>
          <p:cNvSpPr/>
          <p:nvPr/>
        </p:nvSpPr>
        <p:spPr>
          <a:xfrm>
            <a:off x="1873647" y="4401592"/>
            <a:ext cx="952910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DEEA"/>
                </a:solidFill>
                <a:latin typeface="IBM Plex Sans" pitchFamily="34" charset="0"/>
                <a:ea typeface="IBM Plex Sans" pitchFamily="34" charset="-122"/>
                <a:cs typeface="IBM Plex Sans" pitchFamily="34" charset="-120"/>
              </a:rPr>
              <a:t>When the dependency is up yet the record still does not go through, it is held for at most depends-on-max-hold-ms (10 min). Time the group is down does not count.</a:t>
            </a:r>
            <a:endParaRPr lang="en-US" sz="1400" dirty="0"/>
          </a:p>
        </p:txBody>
      </p:sp>
      <p:sp>
        <p:nvSpPr>
          <p:cNvPr id="16" name="Text 14"/>
          <p:cNvSpPr/>
          <p:nvPr/>
        </p:nvSpPr>
        <p:spPr>
          <a:xfrm>
            <a:off x="812800" y="6238280"/>
            <a:ext cx="13562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Kafka DR Starter</a:t>
            </a:r>
            <a:endParaRPr lang="en-US" sz="1200" dirty="0"/>
          </a:p>
        </p:txBody>
      </p:sp>
      <p:sp>
        <p:nvSpPr>
          <p:cNvPr id="17" name="Text 15"/>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61B"/>
                </a:solidFill>
                <a:latin typeface="JetBrains Mono" pitchFamily="49" charset="0"/>
                <a:ea typeface="JetBrains Mono" pitchFamily="49" charset="-122"/>
                <a:cs typeface="JetBrains Mono" pitchFamily="49" charset="-120"/>
              </a:rPr>
              <a:t>FEATURES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A2433"/>
                </a:solidFill>
                <a:latin typeface="IBM Plex Sans" pitchFamily="34" charset="0"/>
                <a:ea typeface="IBM Plex Sans" pitchFamily="34" charset="-122"/>
                <a:cs typeface="IBM Plex Sans" pitchFamily="34" charset="-120"/>
              </a:rPr>
              <a:t>Also out of the box</a:t>
            </a:r>
            <a:endParaRPr lang="en-US" sz="3600" dirty="0"/>
          </a:p>
        </p:txBody>
      </p:sp>
      <p:sp>
        <p:nvSpPr>
          <p:cNvPr id="4" name="Shape 2"/>
          <p:cNvSpPr/>
          <p:nvPr/>
        </p:nvSpPr>
        <p:spPr>
          <a:xfrm>
            <a:off x="815975" y="1938586"/>
            <a:ext cx="2520950" cy="1294011"/>
          </a:xfrm>
          <a:prstGeom prst="roundRect">
            <a:avLst>
              <a:gd name="adj" fmla="val 7606"/>
            </a:avLst>
          </a:prstGeom>
          <a:solidFill>
            <a:srgbClr val="FCFBF8"/>
          </a:solidFill>
          <a:ln w="6350">
            <a:solidFill>
              <a:srgbClr val="E2DED5"/>
            </a:solidFill>
            <a:prstDash val="solid"/>
          </a:ln>
        </p:spPr>
      </p:sp>
      <p:sp>
        <p:nvSpPr>
          <p:cNvPr id="5" name="Text 3"/>
          <p:cNvSpPr/>
          <p:nvPr/>
        </p:nvSpPr>
        <p:spPr>
          <a:xfrm>
            <a:off x="996950" y="2119561"/>
            <a:ext cx="22237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2433"/>
                </a:solidFill>
                <a:latin typeface="IBM Plex Sans" pitchFamily="34" charset="0"/>
                <a:ea typeface="IBM Plex Sans" pitchFamily="34" charset="-122"/>
                <a:cs typeface="IBM Plex Sans" pitchFamily="34" charset="-120"/>
              </a:rPr>
              <a:t>Batch</a:t>
            </a:r>
            <a:endParaRPr lang="en-US" sz="1500" dirty="0"/>
          </a:p>
        </p:txBody>
      </p:sp>
      <p:sp>
        <p:nvSpPr>
          <p:cNvPr id="6" name="Text 4"/>
          <p:cNvSpPr/>
          <p:nvPr/>
        </p:nvSpPr>
        <p:spPr>
          <a:xfrm>
            <a:off x="996950" y="2411661"/>
            <a:ext cx="222377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split per record or standard as an envelope; BatchOutcome with a verdict per record</a:t>
            </a:r>
            <a:endParaRPr lang="en-US" sz="1200" dirty="0"/>
          </a:p>
        </p:txBody>
      </p:sp>
      <p:sp>
        <p:nvSpPr>
          <p:cNvPr id="7" name="Shape 5"/>
          <p:cNvSpPr/>
          <p:nvPr/>
        </p:nvSpPr>
        <p:spPr>
          <a:xfrm>
            <a:off x="3495675" y="1938586"/>
            <a:ext cx="2520950" cy="1294011"/>
          </a:xfrm>
          <a:prstGeom prst="roundRect">
            <a:avLst>
              <a:gd name="adj" fmla="val 7606"/>
            </a:avLst>
          </a:prstGeom>
          <a:solidFill>
            <a:srgbClr val="FCFBF8"/>
          </a:solidFill>
          <a:ln w="6350">
            <a:solidFill>
              <a:srgbClr val="E2DED5"/>
            </a:solidFill>
            <a:prstDash val="solid"/>
          </a:ln>
        </p:spPr>
      </p:sp>
      <p:sp>
        <p:nvSpPr>
          <p:cNvPr id="8" name="Text 6"/>
          <p:cNvSpPr/>
          <p:nvPr/>
        </p:nvSpPr>
        <p:spPr>
          <a:xfrm>
            <a:off x="3676650" y="2119561"/>
            <a:ext cx="22237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2433"/>
                </a:solidFill>
                <a:latin typeface="IBM Plex Sans" pitchFamily="34" charset="0"/>
                <a:ea typeface="IBM Plex Sans" pitchFamily="34" charset="-122"/>
                <a:cs typeface="IBM Plex Sans" pitchFamily="34" charset="-120"/>
              </a:rPr>
              <a:t>Manual ack</a:t>
            </a:r>
            <a:endParaRPr lang="en-US" sz="1500" dirty="0"/>
          </a:p>
        </p:txBody>
      </p:sp>
      <p:sp>
        <p:nvSpPr>
          <p:cNvPr id="9" name="Text 7"/>
          <p:cNvSpPr/>
          <p:nvPr/>
        </p:nvSpPr>
        <p:spPr>
          <a:xfrm>
            <a:off x="3676650" y="2411661"/>
            <a:ext cx="222377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ack.owner: starter — the commit follows a successful handler, no code</a:t>
            </a:r>
            <a:endParaRPr lang="en-US" sz="1200" dirty="0"/>
          </a:p>
        </p:txBody>
      </p:sp>
      <p:sp>
        <p:nvSpPr>
          <p:cNvPr id="10" name="Shape 8"/>
          <p:cNvSpPr/>
          <p:nvPr/>
        </p:nvSpPr>
        <p:spPr>
          <a:xfrm>
            <a:off x="6175375" y="1938586"/>
            <a:ext cx="2520950" cy="1294011"/>
          </a:xfrm>
          <a:prstGeom prst="roundRect">
            <a:avLst>
              <a:gd name="adj" fmla="val 7606"/>
            </a:avLst>
          </a:prstGeom>
          <a:solidFill>
            <a:srgbClr val="FCFBF8"/>
          </a:solidFill>
          <a:ln w="6350">
            <a:solidFill>
              <a:srgbClr val="E2DED5"/>
            </a:solidFill>
            <a:prstDash val="solid"/>
          </a:ln>
        </p:spPr>
      </p:sp>
      <p:sp>
        <p:nvSpPr>
          <p:cNvPr id="11" name="Text 9"/>
          <p:cNvSpPr/>
          <p:nvPr/>
        </p:nvSpPr>
        <p:spPr>
          <a:xfrm>
            <a:off x="6356350" y="2119561"/>
            <a:ext cx="22237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2433"/>
                </a:solidFill>
                <a:latin typeface="IBM Plex Sans" pitchFamily="34" charset="0"/>
                <a:ea typeface="IBM Plex Sans" pitchFamily="34" charset="-122"/>
                <a:cs typeface="IBM Plex Sans" pitchFamily="34" charset="-120"/>
              </a:rPr>
              <a:t>Late start</a:t>
            </a:r>
            <a:endParaRPr lang="en-US" sz="1500" dirty="0"/>
          </a:p>
        </p:txBody>
      </p:sp>
      <p:sp>
        <p:nvSpPr>
          <p:cNvPr id="12" name="Text 10"/>
          <p:cNvSpPr/>
          <p:nvPr/>
        </p:nvSpPr>
        <p:spPr>
          <a:xfrm>
            <a:off x="6356350" y="241166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 cluster down at startup is attached once it comes back</a:t>
            </a:r>
            <a:endParaRPr lang="en-US" sz="1200" dirty="0"/>
          </a:p>
        </p:txBody>
      </p:sp>
      <p:sp>
        <p:nvSpPr>
          <p:cNvPr id="13" name="Shape 11"/>
          <p:cNvSpPr/>
          <p:nvPr/>
        </p:nvSpPr>
        <p:spPr>
          <a:xfrm>
            <a:off x="8855075" y="1938586"/>
            <a:ext cx="2520950" cy="1294011"/>
          </a:xfrm>
          <a:prstGeom prst="roundRect">
            <a:avLst>
              <a:gd name="adj" fmla="val 7606"/>
            </a:avLst>
          </a:prstGeom>
          <a:solidFill>
            <a:srgbClr val="FCFBF8"/>
          </a:solidFill>
          <a:ln w="6350">
            <a:solidFill>
              <a:srgbClr val="E2DED5"/>
            </a:solidFill>
            <a:prstDash val="solid"/>
          </a:ln>
        </p:spPr>
      </p:sp>
      <p:sp>
        <p:nvSpPr>
          <p:cNvPr id="14" name="Text 12"/>
          <p:cNvSpPr/>
          <p:nvPr/>
        </p:nvSpPr>
        <p:spPr>
          <a:xfrm>
            <a:off x="9036050" y="2119561"/>
            <a:ext cx="22237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2433"/>
                </a:solidFill>
                <a:latin typeface="IBM Plex Sans" pitchFamily="34" charset="0"/>
                <a:ea typeface="IBM Plex Sans" pitchFamily="34" charset="-122"/>
                <a:cs typeface="IBM Plex Sans" pitchFamily="34" charset="-120"/>
              </a:rPr>
              <a:t>Topics everywhere</a:t>
            </a:r>
            <a:endParaRPr lang="en-US" sz="1500" dirty="0"/>
          </a:p>
        </p:txBody>
      </p:sp>
      <p:sp>
        <p:nvSpPr>
          <p:cNvPr id="15" name="Text 13"/>
          <p:cNvSpPr/>
          <p:nvPr/>
        </p:nvSpPr>
        <p:spPr>
          <a:xfrm>
            <a:off x="9036050" y="2411661"/>
            <a:ext cx="222377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auto-create-topics creates them on every cluster up front, not at failover</a:t>
            </a:r>
            <a:endParaRPr lang="en-US" sz="1200" dirty="0"/>
          </a:p>
        </p:txBody>
      </p:sp>
      <p:sp>
        <p:nvSpPr>
          <p:cNvPr id="16" name="Shape 14"/>
          <p:cNvSpPr/>
          <p:nvPr/>
        </p:nvSpPr>
        <p:spPr>
          <a:xfrm>
            <a:off x="815975" y="3391346"/>
            <a:ext cx="2520950" cy="1294011"/>
          </a:xfrm>
          <a:prstGeom prst="roundRect">
            <a:avLst>
              <a:gd name="adj" fmla="val 7606"/>
            </a:avLst>
          </a:prstGeom>
          <a:solidFill>
            <a:srgbClr val="FCFBF8"/>
          </a:solidFill>
          <a:ln w="6350">
            <a:solidFill>
              <a:srgbClr val="E2DED5"/>
            </a:solidFill>
            <a:prstDash val="solid"/>
          </a:ln>
        </p:spPr>
      </p:sp>
      <p:sp>
        <p:nvSpPr>
          <p:cNvPr id="17" name="Text 15"/>
          <p:cNvSpPr/>
          <p:nvPr/>
        </p:nvSpPr>
        <p:spPr>
          <a:xfrm>
            <a:off x="996950" y="3572321"/>
            <a:ext cx="22237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2433"/>
                </a:solidFill>
                <a:latin typeface="IBM Plex Sans" pitchFamily="34" charset="0"/>
                <a:ea typeface="IBM Plex Sans" pitchFamily="34" charset="-122"/>
                <a:cs typeface="IBM Plex Sans" pitchFamily="34" charset="-120"/>
              </a:rPr>
              <a:t>Schema Registry</a:t>
            </a:r>
            <a:endParaRPr lang="en-US" sz="1500" dirty="0"/>
          </a:p>
        </p:txBody>
      </p:sp>
      <p:sp>
        <p:nvSpPr>
          <p:cNvPr id="18" name="Text 16"/>
          <p:cNvSpPr/>
          <p:nvPr/>
        </p:nvSpPr>
        <p:spPr>
          <a:xfrm>
            <a:off x="996950" y="386442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 registry per cluster; Avro, JSON, native</a:t>
            </a:r>
            <a:endParaRPr lang="en-US" sz="1200" dirty="0"/>
          </a:p>
        </p:txBody>
      </p:sp>
      <p:sp>
        <p:nvSpPr>
          <p:cNvPr id="19" name="Shape 17"/>
          <p:cNvSpPr/>
          <p:nvPr/>
        </p:nvSpPr>
        <p:spPr>
          <a:xfrm>
            <a:off x="3495675" y="3391346"/>
            <a:ext cx="2520950" cy="1294011"/>
          </a:xfrm>
          <a:prstGeom prst="roundRect">
            <a:avLst>
              <a:gd name="adj" fmla="val 7606"/>
            </a:avLst>
          </a:prstGeom>
          <a:solidFill>
            <a:srgbClr val="FCFBF8"/>
          </a:solidFill>
          <a:ln w="6350">
            <a:solidFill>
              <a:srgbClr val="E2DED5"/>
            </a:solidFill>
            <a:prstDash val="solid"/>
          </a:ln>
        </p:spPr>
      </p:sp>
      <p:sp>
        <p:nvSpPr>
          <p:cNvPr id="20" name="Text 18"/>
          <p:cNvSpPr/>
          <p:nvPr/>
        </p:nvSpPr>
        <p:spPr>
          <a:xfrm>
            <a:off x="3676650" y="3572321"/>
            <a:ext cx="22237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2433"/>
                </a:solidFill>
                <a:latin typeface="IBM Plex Sans" pitchFamily="34" charset="0"/>
                <a:ea typeface="IBM Plex Sans" pitchFamily="34" charset="-122"/>
                <a:cs typeface="IBM Plex Sans" pitchFamily="34" charset="-120"/>
              </a:rPr>
              <a:t>Startup checks</a:t>
            </a:r>
            <a:endParaRPr lang="en-US" sz="1500" dirty="0"/>
          </a:p>
        </p:txBody>
      </p:sp>
      <p:sp>
        <p:nvSpPr>
          <p:cNvPr id="21" name="Text 19"/>
          <p:cNvSpPr/>
          <p:nvPr/>
        </p:nvSpPr>
        <p:spPr>
          <a:xfrm>
            <a:off x="3676650" y="3864421"/>
            <a:ext cx="222377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Dangerous configurations are refused before they can lose data</a:t>
            </a:r>
            <a:endParaRPr lang="en-US" sz="1200" dirty="0"/>
          </a:p>
        </p:txBody>
      </p:sp>
      <p:sp>
        <p:nvSpPr>
          <p:cNvPr id="22" name="Shape 20"/>
          <p:cNvSpPr/>
          <p:nvPr/>
        </p:nvSpPr>
        <p:spPr>
          <a:xfrm>
            <a:off x="6175375" y="3391346"/>
            <a:ext cx="2520950" cy="1294011"/>
          </a:xfrm>
          <a:prstGeom prst="roundRect">
            <a:avLst>
              <a:gd name="adj" fmla="val 7606"/>
            </a:avLst>
          </a:prstGeom>
          <a:solidFill>
            <a:srgbClr val="FCFBF8"/>
          </a:solidFill>
          <a:ln w="6350">
            <a:solidFill>
              <a:srgbClr val="E2DED5"/>
            </a:solidFill>
            <a:prstDash val="solid"/>
          </a:ln>
        </p:spPr>
      </p:sp>
      <p:sp>
        <p:nvSpPr>
          <p:cNvPr id="23" name="Text 21"/>
          <p:cNvSpPr/>
          <p:nvPr/>
        </p:nvSpPr>
        <p:spPr>
          <a:xfrm>
            <a:off x="6356350" y="3572321"/>
            <a:ext cx="22237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2433"/>
                </a:solidFill>
                <a:latin typeface="IBM Plex Sans" pitchFamily="34" charset="0"/>
                <a:ea typeface="IBM Plex Sans" pitchFamily="34" charset="-122"/>
                <a:cs typeface="IBM Plex Sans" pitchFamily="34" charset="-120"/>
              </a:rPr>
              <a:t>Health endpoint</a:t>
            </a:r>
            <a:endParaRPr lang="en-US" sz="1500" dirty="0"/>
          </a:p>
        </p:txBody>
      </p:sp>
      <p:sp>
        <p:nvSpPr>
          <p:cNvPr id="24" name="Text 22"/>
          <p:cNvSpPr/>
          <p:nvPr/>
        </p:nvSpPr>
        <p:spPr>
          <a:xfrm>
            <a:off x="6356350" y="3864421"/>
            <a:ext cx="222377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The active cluster and each cluster's status in /actuator/health</a:t>
            </a:r>
            <a:endParaRPr lang="en-US" sz="1200" dirty="0"/>
          </a:p>
        </p:txBody>
      </p:sp>
      <p:sp>
        <p:nvSpPr>
          <p:cNvPr id="25" name="Shape 23"/>
          <p:cNvSpPr/>
          <p:nvPr/>
        </p:nvSpPr>
        <p:spPr>
          <a:xfrm>
            <a:off x="8855075" y="3391346"/>
            <a:ext cx="2520950" cy="1294011"/>
          </a:xfrm>
          <a:prstGeom prst="roundRect">
            <a:avLst>
              <a:gd name="adj" fmla="val 7606"/>
            </a:avLst>
          </a:prstGeom>
          <a:solidFill>
            <a:srgbClr val="FCFBF8"/>
          </a:solidFill>
          <a:ln w="6350">
            <a:solidFill>
              <a:srgbClr val="E2DED5"/>
            </a:solidFill>
            <a:prstDash val="solid"/>
          </a:ln>
        </p:spPr>
      </p:sp>
      <p:sp>
        <p:nvSpPr>
          <p:cNvPr id="26" name="Text 24"/>
          <p:cNvSpPr/>
          <p:nvPr/>
        </p:nvSpPr>
        <p:spPr>
          <a:xfrm>
            <a:off x="9036050" y="3572321"/>
            <a:ext cx="22237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2433"/>
                </a:solidFill>
                <a:latin typeface="IBM Plex Sans" pitchFamily="34" charset="0"/>
                <a:ea typeface="IBM Plex Sans" pitchFamily="34" charset="-122"/>
                <a:cs typeface="IBM Plex Sans" pitchFamily="34" charset="-120"/>
              </a:rPr>
              <a:t>DR_EVENT logs</a:t>
            </a:r>
            <a:endParaRPr lang="en-US" sz="1500" dirty="0"/>
          </a:p>
        </p:txBody>
      </p:sp>
      <p:sp>
        <p:nvSpPr>
          <p:cNvPr id="27" name="Text 25"/>
          <p:cNvSpPr/>
          <p:nvPr/>
        </p:nvSpPr>
        <p:spPr>
          <a:xfrm>
            <a:off x="9036050" y="3864421"/>
            <a:ext cx="222377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Every switch and seek on its own line; a debug mode with stack traces</a:t>
            </a:r>
            <a:endParaRPr lang="en-US" sz="1200" dirty="0"/>
          </a:p>
        </p:txBody>
      </p:sp>
      <p:sp>
        <p:nvSpPr>
          <p:cNvPr id="28" name="Text 26"/>
          <p:cNvSpPr/>
          <p:nvPr/>
        </p:nvSpPr>
        <p:spPr>
          <a:xfrm>
            <a:off x="812800" y="6238280"/>
            <a:ext cx="13562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Kafka DR Starter</a:t>
            </a:r>
            <a:endParaRPr lang="en-US" sz="1200" dirty="0"/>
          </a:p>
        </p:txBody>
      </p:sp>
      <p:sp>
        <p:nvSpPr>
          <p:cNvPr id="29" name="Text 27"/>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0954F"/>
                </a:solidFill>
                <a:latin typeface="JetBrains Mono" pitchFamily="49" charset="0"/>
                <a:ea typeface="JetBrains Mono" pitchFamily="49" charset="-122"/>
                <a:cs typeface="JetBrains Mono" pitchFamily="49" charset="-120"/>
              </a:rPr>
              <a:t>VERIFIED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3EE"/>
                </a:solidFill>
                <a:latin typeface="IBM Plex Sans" pitchFamily="34" charset="0"/>
                <a:ea typeface="IBM Plex Sans" pitchFamily="34" charset="-122"/>
                <a:cs typeface="IBM Plex Sans" pitchFamily="34" charset="-120"/>
              </a:rPr>
              <a:t>Tests and live runs on real clusters</a:t>
            </a:r>
            <a:endParaRPr lang="en-US" sz="3600" dirty="0"/>
          </a:p>
        </p:txBody>
      </p:sp>
      <p:sp>
        <p:nvSpPr>
          <p:cNvPr id="4" name="Shape 2"/>
          <p:cNvSpPr/>
          <p:nvPr/>
        </p:nvSpPr>
        <p:spPr>
          <a:xfrm>
            <a:off x="812800" y="1998911"/>
            <a:ext cx="3386634" cy="0"/>
          </a:xfrm>
          <a:prstGeom prst="line">
            <a:avLst/>
          </a:prstGeom>
          <a:noFill/>
          <a:ln w="25400">
            <a:solidFill>
              <a:srgbClr val="F0954F"/>
            </a:solidFill>
            <a:prstDash val="solid"/>
          </a:ln>
        </p:spPr>
      </p:sp>
      <p:sp>
        <p:nvSpPr>
          <p:cNvPr id="5" name="Text 3"/>
          <p:cNvSpPr/>
          <p:nvPr/>
        </p:nvSpPr>
        <p:spPr>
          <a:xfrm>
            <a:off x="812800" y="2164011"/>
            <a:ext cx="3488233"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5F3EE"/>
                </a:solidFill>
                <a:latin typeface="IBM Plex Sans" pitchFamily="34" charset="0"/>
                <a:ea typeface="IBM Plex Sans" pitchFamily="34" charset="-122"/>
                <a:cs typeface="IBM Plex Sans" pitchFamily="34" charset="-120"/>
              </a:rPr>
              <a:t>620</a:t>
            </a:r>
            <a:endParaRPr lang="en-US" sz="6000" dirty="0"/>
          </a:p>
        </p:txBody>
      </p:sp>
      <p:sp>
        <p:nvSpPr>
          <p:cNvPr id="6" name="Text 4"/>
          <p:cNvSpPr/>
          <p:nvPr/>
        </p:nvSpPr>
        <p:spPr>
          <a:xfrm>
            <a:off x="812800" y="2976811"/>
            <a:ext cx="3488233"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D6"/>
                </a:solidFill>
                <a:latin typeface="IBM Plex Sans" pitchFamily="34" charset="0"/>
                <a:ea typeface="IBM Plex Sans" pitchFamily="34" charset="-122"/>
                <a:cs typeface="IBM Plex Sans" pitchFamily="34" charset="-120"/>
              </a:rPr>
              <a:t>tests, 0 failures: 586 in the starter, 34 in the examples</a:t>
            </a:r>
            <a:endParaRPr lang="en-US" sz="1400" dirty="0"/>
          </a:p>
        </p:txBody>
      </p:sp>
      <p:sp>
        <p:nvSpPr>
          <p:cNvPr id="7" name="Shape 5"/>
          <p:cNvSpPr/>
          <p:nvPr/>
        </p:nvSpPr>
        <p:spPr>
          <a:xfrm>
            <a:off x="4402634" y="1998911"/>
            <a:ext cx="3386683" cy="0"/>
          </a:xfrm>
          <a:prstGeom prst="line">
            <a:avLst/>
          </a:prstGeom>
          <a:noFill/>
          <a:ln w="25400">
            <a:solidFill>
              <a:srgbClr val="F0954F"/>
            </a:solidFill>
            <a:prstDash val="solid"/>
          </a:ln>
        </p:spPr>
      </p:sp>
      <p:sp>
        <p:nvSpPr>
          <p:cNvPr id="8" name="Text 6"/>
          <p:cNvSpPr/>
          <p:nvPr/>
        </p:nvSpPr>
        <p:spPr>
          <a:xfrm>
            <a:off x="4402634" y="2164011"/>
            <a:ext cx="348828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5F3EE"/>
                </a:solidFill>
                <a:latin typeface="IBM Plex Sans" pitchFamily="34" charset="0"/>
                <a:ea typeface="IBM Plex Sans" pitchFamily="34" charset="-122"/>
                <a:cs typeface="IBM Plex Sans" pitchFamily="34" charset="-120"/>
              </a:rPr>
              <a:t>94%</a:t>
            </a:r>
            <a:endParaRPr lang="en-US" sz="6000" dirty="0"/>
          </a:p>
        </p:txBody>
      </p:sp>
      <p:sp>
        <p:nvSpPr>
          <p:cNvPr id="9" name="Text 7"/>
          <p:cNvSpPr/>
          <p:nvPr/>
        </p:nvSpPr>
        <p:spPr>
          <a:xfrm>
            <a:off x="4402634" y="2976811"/>
            <a:ext cx="348828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D6"/>
                </a:solidFill>
                <a:latin typeface="IBM Plex Sans" pitchFamily="34" charset="0"/>
                <a:ea typeface="IBM Plex Sans" pitchFamily="34" charset="-122"/>
                <a:cs typeface="IBM Plex Sans" pitchFamily="34" charset="-120"/>
              </a:rPr>
              <a:t>instruction coverage of the starter, 87% of branches</a:t>
            </a:r>
            <a:endParaRPr lang="en-US" sz="1400" dirty="0"/>
          </a:p>
        </p:txBody>
      </p:sp>
      <p:sp>
        <p:nvSpPr>
          <p:cNvPr id="10" name="Shape 8"/>
          <p:cNvSpPr/>
          <p:nvPr/>
        </p:nvSpPr>
        <p:spPr>
          <a:xfrm>
            <a:off x="7992517" y="1998911"/>
            <a:ext cx="3386683" cy="0"/>
          </a:xfrm>
          <a:prstGeom prst="line">
            <a:avLst/>
          </a:prstGeom>
          <a:noFill/>
          <a:ln w="25400">
            <a:solidFill>
              <a:srgbClr val="F0954F"/>
            </a:solidFill>
            <a:prstDash val="solid"/>
          </a:ln>
        </p:spPr>
      </p:sp>
      <p:sp>
        <p:nvSpPr>
          <p:cNvPr id="11" name="Text 9"/>
          <p:cNvSpPr/>
          <p:nvPr/>
        </p:nvSpPr>
        <p:spPr>
          <a:xfrm>
            <a:off x="7992517" y="2164011"/>
            <a:ext cx="348828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5F3EE"/>
                </a:solidFill>
                <a:latin typeface="IBM Plex Sans" pitchFamily="34" charset="0"/>
                <a:ea typeface="IBM Plex Sans" pitchFamily="34" charset="-122"/>
                <a:cs typeface="IBM Plex Sans" pitchFamily="34" charset="-120"/>
              </a:rPr>
              <a:t>7</a:t>
            </a:r>
            <a:endParaRPr lang="en-US" sz="6000" dirty="0"/>
          </a:p>
        </p:txBody>
      </p:sp>
      <p:sp>
        <p:nvSpPr>
          <p:cNvPr id="12" name="Text 10"/>
          <p:cNvSpPr/>
          <p:nvPr/>
        </p:nvSpPr>
        <p:spPr>
          <a:xfrm>
            <a:off x="7992517" y="2976811"/>
            <a:ext cx="348828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D6"/>
                </a:solidFill>
                <a:latin typeface="IBM Plex Sans" pitchFamily="34" charset="0"/>
                <a:ea typeface="IBM Plex Sans" pitchFamily="34" charset="-122"/>
                <a:cs typeface="IBM Plex Sans" pitchFamily="34" charset="-120"/>
              </a:rPr>
              <a:t>examples, each run live on its own docker stack</a:t>
            </a:r>
            <a:endParaRPr lang="en-US" sz="1400" dirty="0"/>
          </a:p>
        </p:txBody>
      </p:sp>
      <p:sp>
        <p:nvSpPr>
          <p:cNvPr id="13" name="Text 11"/>
          <p:cNvSpPr/>
          <p:nvPr/>
        </p:nvSpPr>
        <p:spPr>
          <a:xfrm>
            <a:off x="812800" y="3830191"/>
            <a:ext cx="10883392"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D6DEEA"/>
                </a:solidFill>
                <a:latin typeface="IBM Plex Sans" pitchFamily="34" charset="0"/>
                <a:ea typeface="IBM Plex Sans" pitchFamily="34" charset="-122"/>
                <a:cs typeface="IBM Plex Sans" pitchFamily="34" charset="-120"/>
              </a:rPr>
              <a:t>Scenarios: failover and failback · losing 1 of 3 brokers without failover · a dependency group going down · max-hold · a topic created after startup · state restored from Redis after a restart</a:t>
            </a:r>
            <a:endParaRPr lang="en-US" sz="1400" dirty="0"/>
          </a:p>
        </p:txBody>
      </p:sp>
      <p:sp>
        <p:nvSpPr>
          <p:cNvPr id="14" name="Text 12"/>
          <p:cNvSpPr/>
          <p:nvPr/>
        </p:nvSpPr>
        <p:spPr>
          <a:xfrm>
            <a:off x="812800" y="6238280"/>
            <a:ext cx="13562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0B8"/>
                </a:solidFill>
                <a:latin typeface="IBM Plex Sans" pitchFamily="34" charset="0"/>
                <a:ea typeface="IBM Plex Sans" pitchFamily="34" charset="-122"/>
                <a:cs typeface="IBM Plex Sans" pitchFamily="34" charset="-120"/>
              </a:rPr>
              <a:t>Kafka DR Starter</a:t>
            </a:r>
            <a:endParaRPr lang="en-US" sz="1200" dirty="0"/>
          </a:p>
        </p:txBody>
      </p:sp>
      <p:sp>
        <p:nvSpPr>
          <p:cNvPr id="15" name="Text 13"/>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0B8"/>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61B"/>
                </a:solidFill>
                <a:latin typeface="JetBrains Mono" pitchFamily="49" charset="0"/>
                <a:ea typeface="JetBrains Mono" pitchFamily="49" charset="-122"/>
                <a:cs typeface="JetBrains Mono" pitchFamily="49" charset="-120"/>
              </a:rPr>
              <a:t>PROS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A2433"/>
                </a:solidFill>
                <a:latin typeface="IBM Plex Sans" pitchFamily="34" charset="0"/>
                <a:ea typeface="IBM Plex Sans" pitchFamily="34" charset="-122"/>
                <a:cs typeface="IBM Plex Sans" pitchFamily="34" charset="-120"/>
              </a:rPr>
              <a:t>What the project gives you</a:t>
            </a:r>
            <a:endParaRPr lang="en-US" sz="3600" dirty="0"/>
          </a:p>
        </p:txBody>
      </p:sp>
      <p:pic>
        <p:nvPicPr>
          <p:cNvPr id="4" name="Image 0" descr="CheckCircle">    </p:cNvPr>
          <p:cNvPicPr>
            <a:picLocks noChangeAspect="1"/>
          </p:cNvPicPr>
          <p:nvPr/>
        </p:nvPicPr>
        <p:blipFill>
          <a:blip r:embed="rId1"/>
          <a:srcRect l="0" r="0" t="0" b="0"/>
          <a:stretch/>
        </p:blipFill>
        <p:spPr>
          <a:xfrm>
            <a:off x="812800" y="1935411"/>
            <a:ext cx="254000" cy="254000"/>
          </a:xfrm>
          <a:prstGeom prst="rect">
            <a:avLst/>
          </a:prstGeom>
        </p:spPr>
      </p:pic>
      <p:sp>
        <p:nvSpPr>
          <p:cNvPr id="5" name="Text 2"/>
          <p:cNvSpPr/>
          <p:nvPr/>
        </p:nvSpPr>
        <p:spPr>
          <a:xfrm>
            <a:off x="1193800" y="1935411"/>
            <a:ext cx="4902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A2433"/>
                </a:solidFill>
                <a:latin typeface="IBM Plex Sans" pitchFamily="34" charset="0"/>
                <a:ea typeface="IBM Plex Sans" pitchFamily="34" charset="-122"/>
                <a:cs typeface="IBM Plex Sans" pitchFamily="34" charset="-120"/>
              </a:rPr>
              <a:t>Resilience by configuration.</a:t>
            </a:r>
            <a:r>
              <a:rPr lang="en-US" sz="1400" dirty="0">
                <a:solidFill>
                  <a:srgbClr val="4A5568"/>
                </a:solidFill>
                <a:latin typeface="IBM Plex Sans" pitchFamily="34" charset="0"/>
                <a:ea typeface="IBM Plex Sans" pitchFamily="34" charset="-122"/>
                <a:cs typeface="IBM Plex Sans" pitchFamily="34" charset="-120"/>
              </a:rPr>
              <a:t> No DR code in the handlers</a:t>
            </a:r>
            <a:endParaRPr lang="en-US" sz="1400" dirty="0"/>
          </a:p>
        </p:txBody>
      </p:sp>
      <p:pic>
        <p:nvPicPr>
          <p:cNvPr id="6" name="Image 1" descr="CheckCircle">    </p:cNvPr>
          <p:cNvPicPr>
            <a:picLocks noChangeAspect="1"/>
          </p:cNvPicPr>
          <p:nvPr/>
        </p:nvPicPr>
        <p:blipFill>
          <a:blip r:embed="rId2"/>
          <a:srcRect l="0" r="0" t="-40" b="-40"/>
          <a:stretch/>
        </p:blipFill>
        <p:spPr>
          <a:xfrm>
            <a:off x="6096000" y="1935411"/>
            <a:ext cx="184001" cy="254000"/>
          </a:xfrm>
          <a:prstGeom prst="rect">
            <a:avLst/>
          </a:prstGeom>
        </p:spPr>
      </p:pic>
      <p:sp>
        <p:nvSpPr>
          <p:cNvPr id="7" name="Text 3"/>
          <p:cNvSpPr/>
          <p:nvPr/>
        </p:nvSpPr>
        <p:spPr>
          <a:xfrm>
            <a:off x="6407001" y="1935411"/>
            <a:ext cx="5121365"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A2433"/>
                </a:solidFill>
                <a:latin typeface="IBM Plex Sans" pitchFamily="34" charset="0"/>
                <a:ea typeface="IBM Plex Sans" pitchFamily="34" charset="-122"/>
                <a:cs typeface="IBM Plex Sans" pitchFamily="34" charset="-120"/>
              </a:rPr>
              <a:t>Automatic failover and failback</a:t>
            </a:r>
            <a:r>
              <a:rPr lang="en-US" sz="1400" dirty="0">
                <a:solidFill>
                  <a:srgbClr val="4A5568"/>
                </a:solidFill>
                <a:latin typeface="IBM Plex Sans" pitchFamily="34" charset="0"/>
                <a:ea typeface="IBM Plex Sans" pitchFamily="34" charset="-122"/>
                <a:cs typeface="IBM Plex Sans" pitchFamily="34" charset="-120"/>
              </a:rPr>
              <a:t> — with a failback-after window that survives a restart</a:t>
            </a:r>
            <a:endParaRPr lang="en-US" sz="1400" dirty="0"/>
          </a:p>
        </p:txBody>
      </p:sp>
      <p:pic>
        <p:nvPicPr>
          <p:cNvPr id="8" name="Image 2" descr="CheckCircle">    </p:cNvPr>
          <p:cNvPicPr>
            <a:picLocks noChangeAspect="1"/>
          </p:cNvPicPr>
          <p:nvPr/>
        </p:nvPicPr>
        <p:blipFill>
          <a:blip r:embed="rId3"/>
          <a:srcRect l="0" r="0" t="-440" b="-440"/>
          <a:stretch/>
        </p:blipFill>
        <p:spPr>
          <a:xfrm>
            <a:off x="812800" y="2433191"/>
            <a:ext cx="214015" cy="254000"/>
          </a:xfrm>
          <a:prstGeom prst="rect">
            <a:avLst/>
          </a:prstGeom>
        </p:spPr>
      </p:pic>
      <p:sp>
        <p:nvSpPr>
          <p:cNvPr id="9" name="Text 4"/>
          <p:cNvSpPr/>
          <p:nvPr/>
        </p:nvSpPr>
        <p:spPr>
          <a:xfrm>
            <a:off x="1153815" y="2433191"/>
            <a:ext cx="5090451"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A2433"/>
                </a:solidFill>
                <a:latin typeface="IBM Plex Sans" pitchFamily="34" charset="0"/>
                <a:ea typeface="IBM Plex Sans" pitchFamily="34" charset="-122"/>
                <a:cs typeface="IBM Plex Sans" pitchFamily="34" charset="-120"/>
              </a:rPr>
              <a:t>No gaps and no duplicates</a:t>
            </a:r>
            <a:r>
              <a:rPr lang="en-US" sz="1400" dirty="0">
                <a:solidFill>
                  <a:srgbClr val="4A5568"/>
                </a:solidFill>
                <a:latin typeface="IBM Plex Sans" pitchFamily="34" charset="0"/>
                <a:ea typeface="IBM Plex Sans" pitchFamily="34" charset="-122"/>
                <a:cs typeface="IBM Plex Sans" pitchFamily="34" charset="-120"/>
              </a:rPr>
              <a:t> on the switch: seek by time plus idempotency</a:t>
            </a:r>
            <a:endParaRPr lang="en-US" sz="1400" dirty="0"/>
          </a:p>
        </p:txBody>
      </p:sp>
      <p:pic>
        <p:nvPicPr>
          <p:cNvPr id="10" name="Image 3" descr="CheckCircle">    </p:cNvPr>
          <p:cNvPicPr>
            <a:picLocks noChangeAspect="1"/>
          </p:cNvPicPr>
          <p:nvPr/>
        </p:nvPicPr>
        <p:blipFill>
          <a:blip r:embed="rId4"/>
          <a:srcRect l="0" r="0" t="-269" b="-269"/>
          <a:stretch/>
        </p:blipFill>
        <p:spPr>
          <a:xfrm>
            <a:off x="6096000" y="2433191"/>
            <a:ext cx="221059" cy="254000"/>
          </a:xfrm>
          <a:prstGeom prst="rect">
            <a:avLst/>
          </a:prstGeom>
        </p:spPr>
      </p:pic>
      <p:sp>
        <p:nvSpPr>
          <p:cNvPr id="11" name="Text 5"/>
          <p:cNvSpPr/>
          <p:nvPr/>
        </p:nvSpPr>
        <p:spPr>
          <a:xfrm>
            <a:off x="6444059" y="2433191"/>
            <a:ext cx="5083195"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A2433"/>
                </a:solidFill>
                <a:latin typeface="IBM Plex Sans" pitchFamily="34" charset="0"/>
                <a:ea typeface="IBM Plex Sans" pitchFamily="34" charset="-122"/>
                <a:cs typeface="IBM Plex Sans" pitchFamily="34" charset="-120"/>
              </a:rPr>
              <a:t>Several Kafkas in one service</a:t>
            </a:r>
            <a:r>
              <a:rPr lang="en-US" sz="1400" dirty="0">
                <a:solidFill>
                  <a:srgbClr val="4A5568"/>
                </a:solidFill>
                <a:latin typeface="IBM Plex Sans" pitchFamily="34" charset="0"/>
                <a:ea typeface="IBM Plex Sans" pitchFamily="34" charset="-122"/>
                <a:cs typeface="IBM Plex Sans" pitchFamily="34" charset="-120"/>
              </a:rPr>
              <a:t>, and bridges between them without loss</a:t>
            </a:r>
            <a:endParaRPr lang="en-US" sz="1400" dirty="0"/>
          </a:p>
        </p:txBody>
      </p:sp>
      <p:pic>
        <p:nvPicPr>
          <p:cNvPr id="12" name="Image 4" descr="CheckCircle">    </p:cNvPr>
          <p:cNvPicPr>
            <a:picLocks noChangeAspect="1"/>
          </p:cNvPicPr>
          <p:nvPr/>
        </p:nvPicPr>
        <p:blipFill>
          <a:blip r:embed="rId5"/>
          <a:srcRect l="0" r="0" t="-218" b="-218"/>
          <a:stretch/>
        </p:blipFill>
        <p:spPr>
          <a:xfrm>
            <a:off x="812800" y="2930971"/>
            <a:ext cx="227608" cy="254000"/>
          </a:xfrm>
          <a:prstGeom prst="rect">
            <a:avLst/>
          </a:prstGeom>
        </p:spPr>
      </p:pic>
      <p:sp>
        <p:nvSpPr>
          <p:cNvPr id="13" name="Text 6"/>
          <p:cNvSpPr/>
          <p:nvPr/>
        </p:nvSpPr>
        <p:spPr>
          <a:xfrm>
            <a:off x="1167408" y="2930971"/>
            <a:ext cx="5076450"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A2433"/>
                </a:solidFill>
                <a:latin typeface="IBM Plex Sans" pitchFamily="34" charset="0"/>
                <a:ea typeface="IBM Plex Sans" pitchFamily="34" charset="-122"/>
                <a:cs typeface="IBM Plex Sans" pitchFamily="34" charset="-120"/>
              </a:rPr>
              <a:t>Honest error classification:</a:t>
            </a:r>
            <a:r>
              <a:rPr lang="en-US" sz="1400" dirty="0">
                <a:solidFill>
                  <a:srgbClr val="4A5568"/>
                </a:solidFill>
                <a:latin typeface="IBM Plex Sans" pitchFamily="34" charset="0"/>
                <a:ea typeface="IBM Plex Sans" pitchFamily="34" charset="-122"/>
                <a:cs typeface="IBM Plex Sans" pitchFamily="34" charset="-120"/>
              </a:rPr>
              <a:t> neither needless failovers nor silent loss</a:t>
            </a:r>
            <a:endParaRPr lang="en-US" sz="1400" dirty="0"/>
          </a:p>
        </p:txBody>
      </p:sp>
      <p:pic>
        <p:nvPicPr>
          <p:cNvPr id="14" name="Image 5" descr="CheckCircle">    </p:cNvPr>
          <p:cNvPicPr>
            <a:picLocks noChangeAspect="1"/>
          </p:cNvPicPr>
          <p:nvPr/>
        </p:nvPicPr>
        <p:blipFill>
          <a:blip r:embed="rId6"/>
          <a:srcRect l="-668" r="-668" t="0" b="0"/>
          <a:stretch/>
        </p:blipFill>
        <p:spPr>
          <a:xfrm>
            <a:off x="6096000" y="2930971"/>
            <a:ext cx="199479" cy="254000"/>
          </a:xfrm>
          <a:prstGeom prst="rect">
            <a:avLst/>
          </a:prstGeom>
        </p:spPr>
      </p:pic>
      <p:sp>
        <p:nvSpPr>
          <p:cNvPr id="15" name="Text 7"/>
          <p:cNvSpPr/>
          <p:nvPr/>
        </p:nvSpPr>
        <p:spPr>
          <a:xfrm>
            <a:off x="6422479" y="2930971"/>
            <a:ext cx="5105422"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A2433"/>
                </a:solidFill>
                <a:latin typeface="IBM Plex Sans" pitchFamily="34" charset="0"/>
                <a:ea typeface="IBM Plex Sans" pitchFamily="34" charset="-122"/>
                <a:cs typeface="IBM Plex Sans" pitchFamily="34" charset="-120"/>
              </a:rPr>
              <a:t>Dangerous settings don't start</a:t>
            </a:r>
            <a:r>
              <a:rPr lang="en-US" sz="1400" dirty="0">
                <a:solidFill>
                  <a:srgbClr val="4A5568"/>
                </a:solidFill>
                <a:latin typeface="IBM Plex Sans" pitchFamily="34" charset="0"/>
                <a:ea typeface="IBM Plex Sans" pitchFamily="34" charset="-122"/>
                <a:cs typeface="IBM Plex Sans" pitchFamily="34" charset="-120"/>
              </a:rPr>
              <a:t> — the mistake shows at once, not in an incident</a:t>
            </a:r>
            <a:endParaRPr lang="en-US" sz="1400" dirty="0"/>
          </a:p>
        </p:txBody>
      </p:sp>
      <p:pic>
        <p:nvPicPr>
          <p:cNvPr id="16" name="Image 6" descr="CheckCircle">    </p:cNvPr>
          <p:cNvPicPr>
            <a:picLocks noChangeAspect="1"/>
          </p:cNvPicPr>
          <p:nvPr/>
        </p:nvPicPr>
        <p:blipFill>
          <a:blip r:embed="rId7"/>
          <a:srcRect l="0" r="0" t="-794" b="-794"/>
          <a:stretch/>
        </p:blipFill>
        <p:spPr>
          <a:xfrm>
            <a:off x="812800" y="3428752"/>
            <a:ext cx="181273" cy="254000"/>
          </a:xfrm>
          <a:prstGeom prst="rect">
            <a:avLst/>
          </a:prstGeom>
        </p:spPr>
      </p:pic>
      <p:sp>
        <p:nvSpPr>
          <p:cNvPr id="17" name="Text 8"/>
          <p:cNvSpPr/>
          <p:nvPr/>
        </p:nvSpPr>
        <p:spPr>
          <a:xfrm>
            <a:off x="1121073" y="3428752"/>
            <a:ext cx="5124175"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A2433"/>
                </a:solidFill>
                <a:latin typeface="IBM Plex Sans" pitchFamily="34" charset="0"/>
                <a:ea typeface="IBM Plex Sans" pitchFamily="34" charset="-122"/>
                <a:cs typeface="IBM Plex Sans" pitchFamily="34" charset="-120"/>
              </a:rPr>
              <a:t>Extensible:</a:t>
            </a:r>
            <a:r>
              <a:rPr lang="en-US" sz="1400" dirty="0">
                <a:solidFill>
                  <a:srgbClr val="4A5568"/>
                </a:solidFill>
                <a:latin typeface="IBM Plex Sans" pitchFamily="34" charset="0"/>
                <a:ea typeface="IBM Plex Sans" pitchFamily="34" charset="-122"/>
                <a:cs typeface="IBM Plex Sans" pitchFamily="34" charset="-120"/>
              </a:rPr>
              <a:t> your own idempotency, state and timestamp stores (Redis in the examples)</a:t>
            </a:r>
            <a:endParaRPr lang="en-US" sz="1400" dirty="0"/>
          </a:p>
        </p:txBody>
      </p:sp>
      <p:pic>
        <p:nvPicPr>
          <p:cNvPr id="18" name="Image 7" descr="CheckCircle">    </p:cNvPr>
          <p:cNvPicPr>
            <a:picLocks noChangeAspect="1"/>
          </p:cNvPicPr>
          <p:nvPr/>
        </p:nvPicPr>
        <p:blipFill>
          <a:blip r:embed="rId8"/>
          <a:srcRect l="0" r="0" t="-85" b="-85"/>
          <a:stretch/>
        </p:blipFill>
        <p:spPr>
          <a:xfrm>
            <a:off x="6096000" y="3428752"/>
            <a:ext cx="234553" cy="254000"/>
          </a:xfrm>
          <a:prstGeom prst="rect">
            <a:avLst/>
          </a:prstGeom>
        </p:spPr>
      </p:pic>
      <p:sp>
        <p:nvSpPr>
          <p:cNvPr id="19" name="Text 9"/>
          <p:cNvSpPr/>
          <p:nvPr/>
        </p:nvSpPr>
        <p:spPr>
          <a:xfrm>
            <a:off x="6457553" y="3428752"/>
            <a:ext cx="5069296"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A2433"/>
                </a:solidFill>
                <a:latin typeface="IBM Plex Sans" pitchFamily="34" charset="0"/>
                <a:ea typeface="IBM Plex Sans" pitchFamily="34" charset="-122"/>
                <a:cs typeface="IBM Plex Sans" pitchFamily="34" charset="-120"/>
              </a:rPr>
              <a:t>Backward compatible:</a:t>
            </a:r>
            <a:r>
              <a:rPr lang="en-US" sz="1400" dirty="0">
                <a:solidFill>
                  <a:srgbClr val="4A5568"/>
                </a:solidFill>
                <a:latin typeface="IBM Plex Sans" pitchFamily="34" charset="0"/>
                <a:ea typeface="IBM Plex Sans" pitchFamily="34" charset="-122"/>
                <a:cs typeface="IBM Plex Sans" pitchFamily="34" charset="-120"/>
              </a:rPr>
              <a:t> single-group configurations work as before</a:t>
            </a:r>
            <a:endParaRPr lang="en-US" sz="1400" dirty="0"/>
          </a:p>
        </p:txBody>
      </p:sp>
      <p:sp>
        <p:nvSpPr>
          <p:cNvPr id="20" name="Text 10"/>
          <p:cNvSpPr/>
          <p:nvPr/>
        </p:nvSpPr>
        <p:spPr>
          <a:xfrm>
            <a:off x="812800" y="6238280"/>
            <a:ext cx="13562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Kafka DR Starter</a:t>
            </a:r>
            <a:endParaRPr lang="en-US" sz="1200" dirty="0"/>
          </a:p>
        </p:txBody>
      </p:sp>
      <p:sp>
        <p:nvSpPr>
          <p:cNvPr id="21" name="Text 11"/>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0954F"/>
                </a:solidFill>
                <a:latin typeface="JetBrains Mono" pitchFamily="49" charset="0"/>
                <a:ea typeface="JetBrains Mono" pitchFamily="49" charset="-122"/>
                <a:cs typeface="JetBrains Mono" pitchFamily="49" charset="-120"/>
              </a:rPr>
              <a:t>CONS AND LIMITATIONS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3EE"/>
                </a:solidFill>
                <a:latin typeface="IBM Plex Sans" pitchFamily="34" charset="0"/>
                <a:ea typeface="IBM Plex Sans" pitchFamily="34" charset="-122"/>
                <a:cs typeface="IBM Plex Sans" pitchFamily="34" charset="-120"/>
              </a:rPr>
              <a:t>What to know up front</a:t>
            </a:r>
            <a:endParaRPr lang="en-US" sz="3600" dirty="0"/>
          </a:p>
        </p:txBody>
      </p:sp>
      <p:sp>
        <p:nvSpPr>
          <p:cNvPr id="4" name="Text 2"/>
          <p:cNvSpPr/>
          <p:nvPr/>
        </p:nvSpPr>
        <p:spPr>
          <a:xfrm>
            <a:off x="812800" y="1935411"/>
            <a:ext cx="544169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954F"/>
                </a:solidFill>
                <a:latin typeface="IBM Plex Sans" pitchFamily="34" charset="0"/>
                <a:ea typeface="IBM Plex Sans" pitchFamily="34" charset="-122"/>
                <a:cs typeface="IBM Plex Sans" pitchFamily="34" charset="-120"/>
              </a:rPr>
              <a:t>Active-passive only</a:t>
            </a:r>
            <a:endParaRPr lang="en-US" sz="1500" dirty="0"/>
          </a:p>
        </p:txBody>
      </p:sp>
      <p:sp>
        <p:nvSpPr>
          <p:cNvPr id="5" name="Text 3"/>
          <p:cNvSpPr/>
          <p:nvPr/>
        </p:nvSpPr>
        <p:spPr>
          <a:xfrm>
            <a:off x="812800" y="2202111"/>
            <a:ext cx="544169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4D6"/>
                </a:solidFill>
                <a:latin typeface="IBM Plex Sans" pitchFamily="34" charset="0"/>
                <a:ea typeface="IBM Plex Sans" pitchFamily="34" charset="-122"/>
                <a:cs typeface="IBM Plex Sans" pitchFamily="34" charset="-120"/>
              </a:rPr>
              <a:t>One cluster of a group is read and written; MirrorMaker 2 replicates one way</a:t>
            </a:r>
            <a:endParaRPr lang="en-US" sz="1300" dirty="0"/>
          </a:p>
        </p:txBody>
      </p:sp>
      <p:sp>
        <p:nvSpPr>
          <p:cNvPr id="6" name="Text 4"/>
          <p:cNvSpPr/>
          <p:nvPr/>
        </p:nvSpPr>
        <p:spPr>
          <a:xfrm>
            <a:off x="6096000" y="1935411"/>
            <a:ext cx="544169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954F"/>
                </a:solidFill>
                <a:latin typeface="IBM Plex Sans" pitchFamily="34" charset="0"/>
                <a:ea typeface="IBM Plex Sans" pitchFamily="34" charset="-122"/>
                <a:cs typeface="IBM Plex Sans" pitchFamily="34" charset="-120"/>
              </a:rPr>
              <a:t>No exactly-once across Kafkas</a:t>
            </a:r>
            <a:endParaRPr lang="en-US" sz="1500" dirty="0"/>
          </a:p>
        </p:txBody>
      </p:sp>
      <p:sp>
        <p:nvSpPr>
          <p:cNvPr id="7" name="Text 5"/>
          <p:cNvSpPr/>
          <p:nvPr/>
        </p:nvSpPr>
        <p:spPr>
          <a:xfrm>
            <a:off x="6096000" y="2202111"/>
            <a:ext cx="544169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4D6"/>
                </a:solidFill>
                <a:latin typeface="IBM Plex Sans" pitchFamily="34" charset="0"/>
                <a:ea typeface="IBM Plex Sans" pitchFamily="34" charset="-122"/>
                <a:cs typeface="IBM Plex Sans" pitchFamily="34" charset="-120"/>
              </a:rPr>
              <a:t>A crash between send and commit repeats a record — the IdempotencyStore drops it</a:t>
            </a:r>
            <a:endParaRPr lang="en-US" sz="1300" dirty="0"/>
          </a:p>
        </p:txBody>
      </p:sp>
      <p:sp>
        <p:nvSpPr>
          <p:cNvPr id="8" name="Text 6"/>
          <p:cNvSpPr/>
          <p:nvPr/>
        </p:nvSpPr>
        <p:spPr>
          <a:xfrm>
            <a:off x="812800" y="2664371"/>
            <a:ext cx="544169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954F"/>
                </a:solidFill>
                <a:latin typeface="IBM Plex Sans" pitchFamily="34" charset="0"/>
                <a:ea typeface="IBM Plex Sans" pitchFamily="34" charset="-122"/>
                <a:cs typeface="IBM Plex Sans" pitchFamily="34" charset="-120"/>
              </a:rPr>
              <a:t>Deduplication in memory by default</a:t>
            </a:r>
            <a:endParaRPr lang="en-US" sz="1500" dirty="0"/>
          </a:p>
        </p:txBody>
      </p:sp>
      <p:sp>
        <p:nvSpPr>
          <p:cNvPr id="9" name="Text 7"/>
          <p:cNvSpPr/>
          <p:nvPr/>
        </p:nvSpPr>
        <p:spPr>
          <a:xfrm>
            <a:off x="812800" y="2931071"/>
            <a:ext cx="544169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4D6"/>
                </a:solidFill>
                <a:latin typeface="IBM Plex Sans" pitchFamily="34" charset="0"/>
                <a:ea typeface="IBM Plex Sans" pitchFamily="34" charset="-122"/>
                <a:cs typeface="IBM Plex Sans" pitchFamily="34" charset="-120"/>
              </a:rPr>
              <a:t>Marks are lost on restart; production needs a store of its own</a:t>
            </a:r>
            <a:endParaRPr lang="en-US" sz="1300" dirty="0"/>
          </a:p>
        </p:txBody>
      </p:sp>
      <p:sp>
        <p:nvSpPr>
          <p:cNvPr id="10" name="Text 8"/>
          <p:cNvSpPr/>
          <p:nvPr/>
        </p:nvSpPr>
        <p:spPr>
          <a:xfrm>
            <a:off x="6096000" y="2664371"/>
            <a:ext cx="544169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954F"/>
                </a:solidFill>
                <a:latin typeface="IBM Plex Sans" pitchFamily="34" charset="0"/>
                <a:ea typeface="IBM Plex Sans" pitchFamily="34" charset="-122"/>
                <a:cs typeface="IBM Plex Sans" pitchFamily="34" charset="-120"/>
              </a:rPr>
              <a:t>A held record stalls its thread</a:t>
            </a:r>
            <a:endParaRPr lang="en-US" sz="1500" dirty="0"/>
          </a:p>
        </p:txBody>
      </p:sp>
      <p:sp>
        <p:nvSpPr>
          <p:cNvPr id="11" name="Text 9"/>
          <p:cNvSpPr/>
          <p:nvPr/>
        </p:nvSpPr>
        <p:spPr>
          <a:xfrm>
            <a:off x="6096000" y="2931071"/>
            <a:ext cx="544169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4D6"/>
                </a:solidFill>
                <a:latin typeface="IBM Plex Sans" pitchFamily="34" charset="0"/>
                <a:ea typeface="IBM Plex Sans" pitchFamily="34" charset="-122"/>
                <a:cs typeface="IBM Plex Sans" pitchFamily="34" charset="-120"/>
              </a:rPr>
              <a:t>The consumer waits up to max-hold; after that, without a DLQ, the record is skipped</a:t>
            </a:r>
            <a:endParaRPr lang="en-US" sz="1300" dirty="0"/>
          </a:p>
        </p:txBody>
      </p:sp>
      <p:sp>
        <p:nvSpPr>
          <p:cNvPr id="12" name="Text 10"/>
          <p:cNvSpPr/>
          <p:nvPr/>
        </p:nvSpPr>
        <p:spPr>
          <a:xfrm>
            <a:off x="812800" y="3393331"/>
            <a:ext cx="544169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954F"/>
                </a:solidFill>
                <a:latin typeface="IBM Plex Sans" pitchFamily="34" charset="0"/>
                <a:ea typeface="IBM Plex Sans" pitchFamily="34" charset="-122"/>
                <a:cs typeface="IBM Plex Sans" pitchFamily="34" charset="-120"/>
              </a:rPr>
              <a:t>Detection takes time</a:t>
            </a:r>
            <a:endParaRPr lang="en-US" sz="1500" dirty="0"/>
          </a:p>
        </p:txBody>
      </p:sp>
      <p:sp>
        <p:nvSpPr>
          <p:cNvPr id="13" name="Text 11"/>
          <p:cNvSpPr/>
          <p:nvPr/>
        </p:nvSpPr>
        <p:spPr>
          <a:xfrm>
            <a:off x="812800" y="3660031"/>
            <a:ext cx="544169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4D6"/>
                </a:solidFill>
                <a:latin typeface="IBM Plex Sans" pitchFamily="34" charset="0"/>
                <a:ea typeface="IBM Plex Sans" pitchFamily="34" charset="-122"/>
                <a:cs typeface="IBM Plex Sans" pitchFamily="34" charset="-120"/>
              </a:rPr>
              <a:t>Probe-driven failover takes interval × threshold; a failing send speeds it up</a:t>
            </a:r>
            <a:endParaRPr lang="en-US" sz="1300" dirty="0"/>
          </a:p>
        </p:txBody>
      </p:sp>
      <p:sp>
        <p:nvSpPr>
          <p:cNvPr id="14" name="Text 12"/>
          <p:cNvSpPr/>
          <p:nvPr/>
        </p:nvSpPr>
        <p:spPr>
          <a:xfrm>
            <a:off x="6096000" y="3393331"/>
            <a:ext cx="544169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954F"/>
                </a:solidFill>
                <a:latin typeface="IBM Plex Sans" pitchFamily="34" charset="0"/>
                <a:ea typeface="IBM Plex Sans" pitchFamily="34" charset="-122"/>
                <a:cs typeface="IBM Plex Sans" pitchFamily="34" charset="-120"/>
              </a:rPr>
              <a:t>Missing topic: a ~45 s block</a:t>
            </a:r>
            <a:endParaRPr lang="en-US" sz="1500" dirty="0"/>
          </a:p>
        </p:txBody>
      </p:sp>
      <p:sp>
        <p:nvSpPr>
          <p:cNvPr id="15" name="Text 13"/>
          <p:cNvSpPr/>
          <p:nvPr/>
        </p:nvSpPr>
        <p:spPr>
          <a:xfrm>
            <a:off x="6096000" y="3660031"/>
            <a:ext cx="544169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4D6"/>
                </a:solidFill>
                <a:latin typeface="IBM Plex Sans" pitchFamily="34" charset="0"/>
                <a:ea typeface="IBM Plex Sans" pitchFamily="34" charset="-122"/>
                <a:cs typeface="IBM Plex Sans" pitchFamily="34" charset="-120"/>
              </a:rPr>
              <a:t>The first send waits for the SCS provisioner — better to create topics before startup</a:t>
            </a:r>
            <a:endParaRPr lang="en-US" sz="1300" dirty="0"/>
          </a:p>
        </p:txBody>
      </p:sp>
      <p:sp>
        <p:nvSpPr>
          <p:cNvPr id="16" name="Text 14"/>
          <p:cNvSpPr/>
          <p:nvPr/>
        </p:nvSpPr>
        <p:spPr>
          <a:xfrm>
            <a:off x="812800" y="4122291"/>
            <a:ext cx="544169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954F"/>
                </a:solidFill>
                <a:latin typeface="IBM Plex Sans" pitchFamily="34" charset="0"/>
                <a:ea typeface="IBM Plex Sans" pitchFamily="34" charset="-122"/>
                <a:cs typeface="IBM Plex Sans" pitchFamily="34" charset="-120"/>
              </a:rPr>
              <a:t>Tied to the stack</a:t>
            </a:r>
            <a:endParaRPr lang="en-US" sz="1500" dirty="0"/>
          </a:p>
        </p:txBody>
      </p:sp>
      <p:sp>
        <p:nvSpPr>
          <p:cNvPr id="17" name="Text 15"/>
          <p:cNvSpPr/>
          <p:nvPr/>
        </p:nvSpPr>
        <p:spPr>
          <a:xfrm>
            <a:off x="812800" y="4388991"/>
            <a:ext cx="544169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4D6"/>
                </a:solidFill>
                <a:latin typeface="IBM Plex Sans" pitchFamily="34" charset="0"/>
                <a:ea typeface="IBM Plex Sans" pitchFamily="34" charset="-122"/>
                <a:cs typeface="IBM Plex Sans" pitchFamily="34" charset="-120"/>
              </a:rPr>
              <a:t>Spring Boot 4, SCS 5, Kafka binder; registry errors read in Confluent 8.x shapes</a:t>
            </a:r>
            <a:endParaRPr lang="en-US" sz="1300" dirty="0"/>
          </a:p>
        </p:txBody>
      </p:sp>
      <p:sp>
        <p:nvSpPr>
          <p:cNvPr id="18" name="Text 16"/>
          <p:cNvSpPr/>
          <p:nvPr/>
        </p:nvSpPr>
        <p:spPr>
          <a:xfrm>
            <a:off x="6096000" y="4122291"/>
            <a:ext cx="544169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954F"/>
                </a:solidFill>
                <a:latin typeface="IBM Plex Sans" pitchFamily="34" charset="0"/>
                <a:ea typeface="IBM Plex Sans" pitchFamily="34" charset="-122"/>
                <a:cs typeface="IBM Plex Sans" pitchFamily="34" charset="-120"/>
              </a:rPr>
              <a:t>A large configuration surface</a:t>
            </a:r>
            <a:endParaRPr lang="en-US" sz="1500" dirty="0"/>
          </a:p>
        </p:txBody>
      </p:sp>
      <p:sp>
        <p:nvSpPr>
          <p:cNvPr id="19" name="Text 17"/>
          <p:cNvSpPr/>
          <p:nvPr/>
        </p:nvSpPr>
        <p:spPr>
          <a:xfrm>
            <a:off x="6096000" y="4388991"/>
            <a:ext cx="544169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4D6"/>
                </a:solidFill>
                <a:latin typeface="IBM Plex Sans" pitchFamily="34" charset="0"/>
                <a:ea typeface="IBM Plex Sans" pitchFamily="34" charset="-122"/>
                <a:cs typeface="IBM Plex Sans" pitchFamily="34" charset="-120"/>
              </a:rPr>
              <a:t>Groups, depends-on, ack, batch — it takes discipline and reading the README</a:t>
            </a:r>
            <a:endParaRPr lang="en-US" sz="1300" dirty="0"/>
          </a:p>
        </p:txBody>
      </p:sp>
      <p:sp>
        <p:nvSpPr>
          <p:cNvPr id="20" name="Text 18"/>
          <p:cNvSpPr/>
          <p:nvPr/>
        </p:nvSpPr>
        <p:spPr>
          <a:xfrm>
            <a:off x="812800" y="6238280"/>
            <a:ext cx="13562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0B8"/>
                </a:solidFill>
                <a:latin typeface="IBM Plex Sans" pitchFamily="34" charset="0"/>
                <a:ea typeface="IBM Plex Sans" pitchFamily="34" charset="-122"/>
                <a:cs typeface="IBM Plex Sans" pitchFamily="34" charset="-120"/>
              </a:rPr>
              <a:t>Kafka DR Starter</a:t>
            </a:r>
            <a:endParaRPr lang="en-US" sz="1200" dirty="0"/>
          </a:p>
        </p:txBody>
      </p:sp>
      <p:sp>
        <p:nvSpPr>
          <p:cNvPr id="21" name="Text 19"/>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0B8"/>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61B"/>
                </a:solidFill>
                <a:latin typeface="JetBrains Mono" pitchFamily="49" charset="0"/>
                <a:ea typeface="JetBrains Mono" pitchFamily="49" charset="-122"/>
                <a:cs typeface="JetBrains Mono" pitchFamily="49" charset="-120"/>
              </a:rPr>
              <a:t>SUMMARY</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A2433"/>
                </a:solidFill>
                <a:latin typeface="IBM Plex Sans" pitchFamily="34" charset="0"/>
                <a:ea typeface="IBM Plex Sans" pitchFamily="34" charset="-122"/>
                <a:cs typeface="IBM Plex Sans" pitchFamily="34" charset="-120"/>
              </a:rPr>
              <a:t>When the starter fits, and when it doesn't</a:t>
            </a:r>
            <a:endParaRPr lang="en-US" sz="3600" dirty="0"/>
          </a:p>
        </p:txBody>
      </p:sp>
      <p:sp>
        <p:nvSpPr>
          <p:cNvPr id="4" name="Shape 2"/>
          <p:cNvSpPr/>
          <p:nvPr/>
        </p:nvSpPr>
        <p:spPr>
          <a:xfrm>
            <a:off x="815975" y="1938586"/>
            <a:ext cx="5175250" cy="2515840"/>
          </a:xfrm>
          <a:prstGeom prst="roundRect">
            <a:avLst>
              <a:gd name="adj" fmla="val 3912"/>
            </a:avLst>
          </a:prstGeom>
          <a:solidFill>
            <a:srgbClr val="FCFBF8"/>
          </a:solidFill>
          <a:ln w="6350">
            <a:solidFill>
              <a:srgbClr val="E2DED5"/>
            </a:solidFill>
            <a:prstDash val="solid"/>
          </a:ln>
        </p:spPr>
      </p:sp>
      <p:sp>
        <p:nvSpPr>
          <p:cNvPr id="5" name="Text 3"/>
          <p:cNvSpPr/>
          <p:nvPr/>
        </p:nvSpPr>
        <p:spPr>
          <a:xfrm>
            <a:off x="1073150" y="2195761"/>
            <a:ext cx="480072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6FB3"/>
                </a:solidFill>
                <a:latin typeface="IBM Plex Sans" pitchFamily="34" charset="0"/>
                <a:ea typeface="IBM Plex Sans" pitchFamily="34" charset="-122"/>
                <a:cs typeface="IBM Plex Sans" pitchFamily="34" charset="-120"/>
              </a:rPr>
              <a:t>A good fit</a:t>
            </a:r>
            <a:endParaRPr lang="en-US" sz="1800" dirty="0"/>
          </a:p>
        </p:txBody>
      </p:sp>
      <p:sp>
        <p:nvSpPr>
          <p:cNvPr id="6" name="Text 4"/>
          <p:cNvSpPr/>
          <p:nvPr/>
        </p:nvSpPr>
        <p:spPr>
          <a:xfrm>
            <a:off x="1151382" y="2597051"/>
            <a:ext cx="4714875" cy="16256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Spring Cloud Stream on Kafka, primary and standby clusters with MirrorMaker 2</a:t>
            </a:r>
            <a:endParaRPr lang="en-US" sz="1400" dirty="0"/>
          </a:p>
          <a:p>
            <a:pPr algn="l" marL="175768" indent="-175768">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Automatic failover is needed, without loss or duplicates</a:t>
            </a:r>
            <a:endParaRPr lang="en-US" sz="1400" dirty="0"/>
          </a:p>
          <a:p>
            <a:pPr algn="l" marL="175768" indent="-175768">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A service exchanges data between several Kafkas</a:t>
            </a:r>
            <a:endParaRPr lang="en-US" sz="1400" dirty="0"/>
          </a:p>
          <a:p>
            <a:pPr algn="l" marL="175768" indent="-175768">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Many teams need DR — done the same way</a:t>
            </a:r>
            <a:endParaRPr lang="en-US" sz="1400" dirty="0"/>
          </a:p>
        </p:txBody>
      </p:sp>
      <p:sp>
        <p:nvSpPr>
          <p:cNvPr id="7" name="Shape 5"/>
          <p:cNvSpPr/>
          <p:nvPr/>
        </p:nvSpPr>
        <p:spPr>
          <a:xfrm>
            <a:off x="6200775" y="1938586"/>
            <a:ext cx="5175250" cy="2515840"/>
          </a:xfrm>
          <a:prstGeom prst="roundRect">
            <a:avLst>
              <a:gd name="adj" fmla="val 3912"/>
            </a:avLst>
          </a:prstGeom>
          <a:solidFill>
            <a:srgbClr val="FCFBF8"/>
          </a:solidFill>
          <a:ln w="6350">
            <a:solidFill>
              <a:srgbClr val="E2DED5"/>
            </a:solidFill>
            <a:prstDash val="solid"/>
          </a:ln>
        </p:spPr>
      </p:sp>
      <p:sp>
        <p:nvSpPr>
          <p:cNvPr id="8" name="Text 6"/>
          <p:cNvSpPr/>
          <p:nvPr/>
        </p:nvSpPr>
        <p:spPr>
          <a:xfrm>
            <a:off x="6457950" y="2195761"/>
            <a:ext cx="480072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4561B"/>
                </a:solidFill>
                <a:latin typeface="IBM Plex Sans" pitchFamily="34" charset="0"/>
                <a:ea typeface="IBM Plex Sans" pitchFamily="34" charset="-122"/>
                <a:cs typeface="IBM Plex Sans" pitchFamily="34" charset="-120"/>
              </a:rPr>
              <a:t>Not a fit</a:t>
            </a:r>
            <a:endParaRPr lang="en-US" sz="1800" dirty="0"/>
          </a:p>
        </p:txBody>
      </p:sp>
      <p:sp>
        <p:nvSpPr>
          <p:cNvPr id="9" name="Text 7"/>
          <p:cNvSpPr/>
          <p:nvPr/>
        </p:nvSpPr>
        <p:spPr>
          <a:xfrm>
            <a:off x="6536182" y="2597051"/>
            <a:ext cx="4714875" cy="16256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Active-active, or writing to several clusters at once</a:t>
            </a:r>
            <a:endParaRPr lang="en-US" sz="1400" dirty="0"/>
          </a:p>
          <a:p>
            <a:pPr algn="l" marL="175768" indent="-175768">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Strict exactly-once across Kafkas</a:t>
            </a:r>
            <a:endParaRPr lang="en-US" sz="1400" dirty="0"/>
          </a:p>
          <a:p>
            <a:pPr algn="l" marL="175768" indent="-175768">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Not Spring Cloud Stream: a plain Kafka client or Kafka Streams</a:t>
            </a:r>
            <a:endParaRPr lang="en-US" sz="1400" dirty="0"/>
          </a:p>
          <a:p>
            <a:pPr algn="l" marL="175768" indent="-175768">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A single cluster with no standby — the starter adds nothing</a:t>
            </a:r>
            <a:endParaRPr lang="en-US" sz="1400" dirty="0"/>
          </a:p>
        </p:txBody>
      </p:sp>
      <p:sp>
        <p:nvSpPr>
          <p:cNvPr id="10" name="Text 8"/>
          <p:cNvSpPr/>
          <p:nvPr/>
        </p:nvSpPr>
        <p:spPr>
          <a:xfrm>
            <a:off x="812800" y="6238280"/>
            <a:ext cx="13562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Kafka DR Starter</a:t>
            </a:r>
            <a:endParaRPr lang="en-US" sz="1200" dirty="0"/>
          </a:p>
        </p:txBody>
      </p:sp>
      <p:sp>
        <p:nvSpPr>
          <p:cNvPr id="11" name="Text 9"/>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theme/theme1.xml><?xml version="1.0" encoding="utf-8"?>
<a:theme xmlns:a="http://schemas.openxmlformats.org/drawingml/2006/main" name="Kafka DR Starter (EN)">
  <a:themeElements>
    <a:clrScheme name="Kafka DR Starter (EN)">
      <a:dk1>
        <a:srgbClr val="1A2433"/>
      </a:dk1>
      <a:lt1>
        <a:srgbClr val="F5F3EE"/>
      </a:lt1>
      <a:dk2>
        <a:srgbClr val="515862"/>
      </a:dk2>
      <a:lt2>
        <a:srgbClr val="DFDEDB"/>
      </a:lt2>
      <a:accent1>
        <a:srgbClr val="F0954F"/>
      </a:accent1>
      <a:accent2>
        <a:srgbClr val="8FA0B8"/>
      </a:accent2>
      <a:accent3>
        <a:srgbClr val="B4561B"/>
      </a:accent3>
      <a:accent4>
        <a:srgbClr val="2F6FB3"/>
      </a:accent4>
      <a:accent5>
        <a:srgbClr val="E07A2E"/>
      </a:accent5>
      <a:accent6>
        <a:srgbClr val="4A5568"/>
      </a:accent6>
      <a:hlink>
        <a:srgbClr val="0563C1"/>
      </a:hlink>
      <a:folHlink>
        <a:srgbClr val="954F72"/>
      </a:folHlink>
    </a:clrScheme>
    <a:fontScheme name="Kafka DR Starter (E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Kafka DR Starter (EN)</dc:title>
  <dc:subject/>
  <dc:creator/>
  <cp:lastModifiedBy/>
  <cp:revision>1</cp:revision>
  <dcterms:created xsi:type="dcterms:W3CDTF">2026-10-07T15:24:22Z</dcterms:created>
  <dcterms:modified xsi:type="dcterms:W3CDTF">2026-10-07T15:24:22Z</dcterms:modified>
</cp:coreProperties>
</file>